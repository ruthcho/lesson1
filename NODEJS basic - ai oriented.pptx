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Lst>
  <p:sldSz cy="5143500" cx="9144000"/>
  <p:notesSz cx="6858000" cy="9144000"/>
  <p:embeddedFontLst>
    <p:embeddedFont>
      <p:font typeface="Nunito"/>
      <p:regular r:id="rId43"/>
      <p:bold r:id="rId44"/>
      <p:italic r:id="rId45"/>
      <p:boldItalic r:id="rId4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20" Type="http://schemas.openxmlformats.org/officeDocument/2006/relationships/slide" Target="slides/slide15.xml"/><Relationship Id="rId42" Type="http://schemas.openxmlformats.org/officeDocument/2006/relationships/slide" Target="slides/slide37.xml"/><Relationship Id="rId41" Type="http://schemas.openxmlformats.org/officeDocument/2006/relationships/slide" Target="slides/slide36.xml"/><Relationship Id="rId22" Type="http://schemas.openxmlformats.org/officeDocument/2006/relationships/slide" Target="slides/slide17.xml"/><Relationship Id="rId44" Type="http://schemas.openxmlformats.org/officeDocument/2006/relationships/font" Target="fonts/Nunito-bold.fntdata"/><Relationship Id="rId21" Type="http://schemas.openxmlformats.org/officeDocument/2006/relationships/slide" Target="slides/slide16.xml"/><Relationship Id="rId43" Type="http://schemas.openxmlformats.org/officeDocument/2006/relationships/font" Target="fonts/Nunito-regular.fntdata"/><Relationship Id="rId24" Type="http://schemas.openxmlformats.org/officeDocument/2006/relationships/slide" Target="slides/slide19.xml"/><Relationship Id="rId46" Type="http://schemas.openxmlformats.org/officeDocument/2006/relationships/font" Target="fonts/Nunito-boldItalic.fntdata"/><Relationship Id="rId23" Type="http://schemas.openxmlformats.org/officeDocument/2006/relationships/slide" Target="slides/slide18.xml"/><Relationship Id="rId45" Type="http://schemas.openxmlformats.org/officeDocument/2006/relationships/font" Target="fonts/Nunito-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006f1d39a8_1_4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006f1d39a8_1_4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006f1d39a8_1_4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006f1d39a8_1_4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006f1d39a8_1_5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006f1d39a8_1_5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006f1d39a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006f1d39a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2d375174cc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2d375174cc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ef2899fcf2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ef2899fcf2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006f1d39a8_1_5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006f1d39a8_1_5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006f1d39a8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3006f1d39a8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ef2899fcf2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ef2899fcf2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ef2899fcf2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3ef2899fcf2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ef2899fcf2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3ef2899fcf2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2d38e096b4d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2d38e096b4d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006f1d39a8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3006f1d39a8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efe87b741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3efe87b741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efe87b741a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3efe87b741a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efe87b741a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3efe87b741a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efe87b741a_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3efe87b741a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3efe87b741a_1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3efe87b741a_1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efe87b741a_1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3efe87b741a_1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efe87b741a_1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3efe87b741a_1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3f0038deb20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3f0038deb20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f0038deb20_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3f0038deb20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3f0038deb20_1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3f0038deb20_1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3f0038deb20_1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3f0038deb20_1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3f0038deb20_1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7" name="Google Shape;277;g3f0038deb20_1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3f0f8e998d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3" name="Google Shape;283;g3f0f8e998d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3f0f8e998d9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9" name="Google Shape;289;g3f0f8e998d9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3f0f8e998d9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3f0f8e998d9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3f0f8e998d9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1" name="Google Shape;301;g3f0f8e998d9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3f0f8e998d9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7" name="Google Shape;307;g3f0f8e998d9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3f0f8e998d9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3f0f8e998d9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3f0f8e998d9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3f0f8e998d9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3f0f8e998d9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5" name="Google Shape;325;g3f0f8e998d9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3f0f8e998d9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1" name="Google Shape;331;g3f0f8e998d9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3f0f8e998d9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7" name="Google Shape;337;g3f0f8e998d9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3f0f8e998d9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3" name="Google Shape;343;g3f0f8e998d9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6"/>
        </a:solidFill>
      </p:bgPr>
    </p:bg>
    <p:spTree>
      <p:nvGrpSpPr>
        <p:cNvPr id="9" name="Shape 9"/>
        <p:cNvGrpSpPr/>
        <p:nvPr/>
      </p:nvGrpSpPr>
      <p:grpSpPr>
        <a:xfrm>
          <a:off x="0" y="0"/>
          <a:ext cx="0" cy="0"/>
          <a:chOff x="0" y="0"/>
          <a:chExt cx="0" cy="0"/>
        </a:xfrm>
      </p:grpSpPr>
      <p:sp>
        <p:nvSpPr>
          <p:cNvPr id="10" name="Google Shape;10;p2"/>
          <p:cNvSpPr/>
          <p:nvPr/>
        </p:nvSpPr>
        <p:spPr>
          <a:xfrm>
            <a:off x="31" y="2824500"/>
            <a:ext cx="7370400" cy="23190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3582600" y="1550700"/>
            <a:ext cx="5561400" cy="35928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rot="10800000">
            <a:off x="5058905" y="0"/>
            <a:ext cx="4085100" cy="20526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20327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 name="Google Shape;14;p2"/>
          <p:cNvGrpSpPr/>
          <p:nvPr/>
        </p:nvGrpSpPr>
        <p:grpSpPr>
          <a:xfrm>
            <a:off x="255200" y="592"/>
            <a:ext cx="2250363" cy="1044300"/>
            <a:chOff x="255200" y="592"/>
            <a:chExt cx="2250363" cy="1044300"/>
          </a:xfrm>
        </p:grpSpPr>
        <p:sp>
          <p:nvSpPr>
            <p:cNvPr id="15" name="Google Shape;15;p2"/>
            <p:cNvSpPr/>
            <p:nvPr/>
          </p:nvSpPr>
          <p:spPr>
            <a:xfrm>
              <a:off x="764063"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509632"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255200"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905395" y="592"/>
            <a:ext cx="2250363" cy="1044300"/>
            <a:chOff x="905395" y="592"/>
            <a:chExt cx="2250363" cy="1044300"/>
          </a:xfrm>
        </p:grpSpPr>
        <p:sp>
          <p:nvSpPr>
            <p:cNvPr id="19" name="Google Shape;19;p2"/>
            <p:cNvSpPr/>
            <p:nvPr/>
          </p:nvSpPr>
          <p:spPr>
            <a:xfrm>
              <a:off x="1414258"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1159826"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905395"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 name="Google Shape;22;p2"/>
          <p:cNvGrpSpPr/>
          <p:nvPr/>
        </p:nvGrpSpPr>
        <p:grpSpPr>
          <a:xfrm>
            <a:off x="7057468" y="5088"/>
            <a:ext cx="1851282" cy="752108"/>
            <a:chOff x="6917201" y="0"/>
            <a:chExt cx="2227777" cy="863400"/>
          </a:xfrm>
        </p:grpSpPr>
        <p:sp>
          <p:nvSpPr>
            <p:cNvPr id="23" name="Google Shape;23;p2"/>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 name="Google Shape;26;p2"/>
          <p:cNvGrpSpPr/>
          <p:nvPr/>
        </p:nvGrpSpPr>
        <p:grpSpPr>
          <a:xfrm>
            <a:off x="6553032" y="4217852"/>
            <a:ext cx="2389068" cy="925737"/>
            <a:chOff x="6917201" y="0"/>
            <a:chExt cx="2227777" cy="863400"/>
          </a:xfrm>
        </p:grpSpPr>
        <p:sp>
          <p:nvSpPr>
            <p:cNvPr id="27" name="Google Shape;27;p2"/>
            <p:cNvSpPr/>
            <p:nvPr/>
          </p:nvSpPr>
          <p:spPr>
            <a:xfrm>
              <a:off x="7641677"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7279439"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6917201"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 name="Google Shape;30;p2"/>
          <p:cNvGrpSpPr/>
          <p:nvPr/>
        </p:nvGrpSpPr>
        <p:grpSpPr>
          <a:xfrm>
            <a:off x="199149" y="4055652"/>
            <a:ext cx="2795414" cy="1083308"/>
            <a:chOff x="6917201" y="0"/>
            <a:chExt cx="2227777" cy="863400"/>
          </a:xfrm>
        </p:grpSpPr>
        <p:sp>
          <p:nvSpPr>
            <p:cNvPr id="31" name="Google Shape;31;p2"/>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 name="Google Shape;34;p2"/>
          <p:cNvSpPr txBox="1"/>
          <p:nvPr>
            <p:ph type="ctrTitle"/>
          </p:nvPr>
        </p:nvSpPr>
        <p:spPr>
          <a:xfrm>
            <a:off x="1858703" y="1822833"/>
            <a:ext cx="5361300" cy="14481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35" name="Google Shape;35;p2"/>
          <p:cNvSpPr txBox="1"/>
          <p:nvPr>
            <p:ph idx="1" type="subTitle"/>
          </p:nvPr>
        </p:nvSpPr>
        <p:spPr>
          <a:xfrm>
            <a:off x="1858700" y="3413158"/>
            <a:ext cx="5361300" cy="52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1600"/>
              <a:buNone/>
              <a:defRPr sz="1600">
                <a:solidFill>
                  <a:schemeClr val="lt1"/>
                </a:solidFill>
              </a:defRPr>
            </a:lvl1pPr>
            <a:lvl2pPr lvl="1" algn="ctr">
              <a:lnSpc>
                <a:spcPct val="100000"/>
              </a:lnSpc>
              <a:spcBef>
                <a:spcPts val="0"/>
              </a:spcBef>
              <a:spcAft>
                <a:spcPts val="0"/>
              </a:spcAft>
              <a:buClr>
                <a:schemeClr val="lt1"/>
              </a:buClr>
              <a:buSzPts val="1600"/>
              <a:buNone/>
              <a:defRPr sz="1600">
                <a:solidFill>
                  <a:schemeClr val="lt1"/>
                </a:solidFill>
              </a:defRPr>
            </a:lvl2pPr>
            <a:lvl3pPr lvl="2" algn="ctr">
              <a:lnSpc>
                <a:spcPct val="100000"/>
              </a:lnSpc>
              <a:spcBef>
                <a:spcPts val="0"/>
              </a:spcBef>
              <a:spcAft>
                <a:spcPts val="0"/>
              </a:spcAft>
              <a:buClr>
                <a:schemeClr val="lt1"/>
              </a:buClr>
              <a:buSzPts val="1600"/>
              <a:buNone/>
              <a:defRPr sz="1600">
                <a:solidFill>
                  <a:schemeClr val="lt1"/>
                </a:solidFill>
              </a:defRPr>
            </a:lvl3pPr>
            <a:lvl4pPr lvl="3" algn="ctr">
              <a:lnSpc>
                <a:spcPct val="100000"/>
              </a:lnSpc>
              <a:spcBef>
                <a:spcPts val="0"/>
              </a:spcBef>
              <a:spcAft>
                <a:spcPts val="0"/>
              </a:spcAft>
              <a:buClr>
                <a:schemeClr val="lt1"/>
              </a:buClr>
              <a:buSzPts val="1600"/>
              <a:buNone/>
              <a:defRPr sz="1600">
                <a:solidFill>
                  <a:schemeClr val="lt1"/>
                </a:solidFill>
              </a:defRPr>
            </a:lvl4pPr>
            <a:lvl5pPr lvl="4" algn="ctr">
              <a:lnSpc>
                <a:spcPct val="100000"/>
              </a:lnSpc>
              <a:spcBef>
                <a:spcPts val="0"/>
              </a:spcBef>
              <a:spcAft>
                <a:spcPts val="0"/>
              </a:spcAft>
              <a:buClr>
                <a:schemeClr val="lt1"/>
              </a:buClr>
              <a:buSzPts val="1600"/>
              <a:buNone/>
              <a:defRPr sz="1600">
                <a:solidFill>
                  <a:schemeClr val="lt1"/>
                </a:solidFill>
              </a:defRPr>
            </a:lvl5pPr>
            <a:lvl6pPr lvl="5" algn="ctr">
              <a:lnSpc>
                <a:spcPct val="100000"/>
              </a:lnSpc>
              <a:spcBef>
                <a:spcPts val="0"/>
              </a:spcBef>
              <a:spcAft>
                <a:spcPts val="0"/>
              </a:spcAft>
              <a:buClr>
                <a:schemeClr val="lt1"/>
              </a:buClr>
              <a:buSzPts val="1600"/>
              <a:buNone/>
              <a:defRPr sz="1600">
                <a:solidFill>
                  <a:schemeClr val="lt1"/>
                </a:solidFill>
              </a:defRPr>
            </a:lvl6pPr>
            <a:lvl7pPr lvl="6" algn="ctr">
              <a:lnSpc>
                <a:spcPct val="100000"/>
              </a:lnSpc>
              <a:spcBef>
                <a:spcPts val="0"/>
              </a:spcBef>
              <a:spcAft>
                <a:spcPts val="0"/>
              </a:spcAft>
              <a:buClr>
                <a:schemeClr val="lt1"/>
              </a:buClr>
              <a:buSzPts val="1600"/>
              <a:buNone/>
              <a:defRPr sz="1600">
                <a:solidFill>
                  <a:schemeClr val="lt1"/>
                </a:solidFill>
              </a:defRPr>
            </a:lvl7pPr>
            <a:lvl8pPr lvl="7" algn="ctr">
              <a:lnSpc>
                <a:spcPct val="100000"/>
              </a:lnSpc>
              <a:spcBef>
                <a:spcPts val="0"/>
              </a:spcBef>
              <a:spcAft>
                <a:spcPts val="0"/>
              </a:spcAft>
              <a:buClr>
                <a:schemeClr val="lt1"/>
              </a:buClr>
              <a:buSzPts val="1600"/>
              <a:buNone/>
              <a:defRPr sz="1600">
                <a:solidFill>
                  <a:schemeClr val="lt1"/>
                </a:solidFill>
              </a:defRPr>
            </a:lvl8pPr>
            <a:lvl9pPr lvl="8" algn="ctr">
              <a:lnSpc>
                <a:spcPct val="100000"/>
              </a:lnSpc>
              <a:spcBef>
                <a:spcPts val="0"/>
              </a:spcBef>
              <a:spcAft>
                <a:spcPts val="0"/>
              </a:spcAft>
              <a:buClr>
                <a:schemeClr val="lt1"/>
              </a:buClr>
              <a:buSzPts val="1600"/>
              <a:buNone/>
              <a:defRPr sz="1600">
                <a:solidFill>
                  <a:schemeClr val="lt1"/>
                </a:solidFill>
              </a:defRPr>
            </a:lvl9pPr>
          </a:lstStyle>
          <a:p/>
        </p:txBody>
      </p:sp>
      <p:sp>
        <p:nvSpPr>
          <p:cNvPr id="36" name="Google Shape;36;p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37" name="Shape 37"/>
        <p:cNvGrpSpPr/>
        <p:nvPr/>
      </p:nvGrpSpPr>
      <p:grpSpPr>
        <a:xfrm>
          <a:off x="0" y="0"/>
          <a:ext cx="0" cy="0"/>
          <a:chOff x="0" y="0"/>
          <a:chExt cx="0" cy="0"/>
        </a:xfrm>
      </p:grpSpPr>
      <p:sp>
        <p:nvSpPr>
          <p:cNvPr id="38" name="Google Shape;38;p3"/>
          <p:cNvSpPr/>
          <p:nvPr/>
        </p:nvSpPr>
        <p:spPr>
          <a:xfrm flipH="1">
            <a:off x="4757100" y="2309400"/>
            <a:ext cx="4386900" cy="2834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 name="Google Shape;39;p3"/>
          <p:cNvGrpSpPr/>
          <p:nvPr/>
        </p:nvGrpSpPr>
        <p:grpSpPr>
          <a:xfrm>
            <a:off x="5594191" y="3961115"/>
            <a:ext cx="2910145" cy="1182340"/>
            <a:chOff x="6917201" y="0"/>
            <a:chExt cx="2227777" cy="863400"/>
          </a:xfrm>
        </p:grpSpPr>
        <p:sp>
          <p:nvSpPr>
            <p:cNvPr id="40" name="Google Shape;40;p3"/>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3"/>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3"/>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 name="Google Shape;43;p3"/>
          <p:cNvGrpSpPr/>
          <p:nvPr/>
        </p:nvGrpSpPr>
        <p:grpSpPr>
          <a:xfrm>
            <a:off x="199149" y="2"/>
            <a:ext cx="2795414" cy="1083308"/>
            <a:chOff x="6917201" y="0"/>
            <a:chExt cx="2227777" cy="863400"/>
          </a:xfrm>
        </p:grpSpPr>
        <p:sp>
          <p:nvSpPr>
            <p:cNvPr id="44" name="Google Shape;44;p3"/>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3"/>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3"/>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 name="Google Shape;47;p3"/>
          <p:cNvSpPr txBox="1"/>
          <p:nvPr>
            <p:ph type="title"/>
          </p:nvPr>
        </p:nvSpPr>
        <p:spPr>
          <a:xfrm>
            <a:off x="1888684" y="1746100"/>
            <a:ext cx="5377500" cy="16461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3200"/>
              <a:buNone/>
              <a:defRPr sz="3200">
                <a:solidFill>
                  <a:schemeClr val="dk2"/>
                </a:solidFill>
              </a:defRPr>
            </a:lvl1pPr>
            <a:lvl2pPr lvl="1" algn="ctr">
              <a:spcBef>
                <a:spcPts val="0"/>
              </a:spcBef>
              <a:spcAft>
                <a:spcPts val="0"/>
              </a:spcAft>
              <a:buClr>
                <a:schemeClr val="dk2"/>
              </a:buClr>
              <a:buSzPts val="3200"/>
              <a:buNone/>
              <a:defRPr sz="3200">
                <a:solidFill>
                  <a:schemeClr val="dk2"/>
                </a:solidFill>
              </a:defRPr>
            </a:lvl2pPr>
            <a:lvl3pPr lvl="2" algn="ctr">
              <a:spcBef>
                <a:spcPts val="0"/>
              </a:spcBef>
              <a:spcAft>
                <a:spcPts val="0"/>
              </a:spcAft>
              <a:buClr>
                <a:schemeClr val="dk2"/>
              </a:buClr>
              <a:buSzPts val="3200"/>
              <a:buNone/>
              <a:defRPr sz="3200">
                <a:solidFill>
                  <a:schemeClr val="dk2"/>
                </a:solidFill>
              </a:defRPr>
            </a:lvl3pPr>
            <a:lvl4pPr lvl="3" algn="ctr">
              <a:spcBef>
                <a:spcPts val="0"/>
              </a:spcBef>
              <a:spcAft>
                <a:spcPts val="0"/>
              </a:spcAft>
              <a:buClr>
                <a:schemeClr val="dk2"/>
              </a:buClr>
              <a:buSzPts val="3200"/>
              <a:buNone/>
              <a:defRPr sz="3200">
                <a:solidFill>
                  <a:schemeClr val="dk2"/>
                </a:solidFill>
              </a:defRPr>
            </a:lvl4pPr>
            <a:lvl5pPr lvl="4" algn="ctr">
              <a:spcBef>
                <a:spcPts val="0"/>
              </a:spcBef>
              <a:spcAft>
                <a:spcPts val="0"/>
              </a:spcAft>
              <a:buClr>
                <a:schemeClr val="dk2"/>
              </a:buClr>
              <a:buSzPts val="3200"/>
              <a:buNone/>
              <a:defRPr sz="3200">
                <a:solidFill>
                  <a:schemeClr val="dk2"/>
                </a:solidFill>
              </a:defRPr>
            </a:lvl5pPr>
            <a:lvl6pPr lvl="5" algn="ctr">
              <a:spcBef>
                <a:spcPts val="0"/>
              </a:spcBef>
              <a:spcAft>
                <a:spcPts val="0"/>
              </a:spcAft>
              <a:buClr>
                <a:schemeClr val="dk2"/>
              </a:buClr>
              <a:buSzPts val="3200"/>
              <a:buNone/>
              <a:defRPr sz="3200">
                <a:solidFill>
                  <a:schemeClr val="dk2"/>
                </a:solidFill>
              </a:defRPr>
            </a:lvl6pPr>
            <a:lvl7pPr lvl="6" algn="ctr">
              <a:spcBef>
                <a:spcPts val="0"/>
              </a:spcBef>
              <a:spcAft>
                <a:spcPts val="0"/>
              </a:spcAft>
              <a:buClr>
                <a:schemeClr val="dk2"/>
              </a:buClr>
              <a:buSzPts val="3200"/>
              <a:buNone/>
              <a:defRPr sz="3200">
                <a:solidFill>
                  <a:schemeClr val="dk2"/>
                </a:solidFill>
              </a:defRPr>
            </a:lvl7pPr>
            <a:lvl8pPr lvl="7" algn="ctr">
              <a:spcBef>
                <a:spcPts val="0"/>
              </a:spcBef>
              <a:spcAft>
                <a:spcPts val="0"/>
              </a:spcAft>
              <a:buClr>
                <a:schemeClr val="dk2"/>
              </a:buClr>
              <a:buSzPts val="3200"/>
              <a:buNone/>
              <a:defRPr sz="3200">
                <a:solidFill>
                  <a:schemeClr val="dk2"/>
                </a:solidFill>
              </a:defRPr>
            </a:lvl8pPr>
            <a:lvl9pPr lvl="8" algn="ctr">
              <a:spcBef>
                <a:spcPts val="0"/>
              </a:spcBef>
              <a:spcAft>
                <a:spcPts val="0"/>
              </a:spcAft>
              <a:buClr>
                <a:schemeClr val="dk2"/>
              </a:buClr>
              <a:buSzPts val="3200"/>
              <a:buNone/>
              <a:defRPr sz="3200">
                <a:solidFill>
                  <a:schemeClr val="dk2"/>
                </a:solidFill>
              </a:defRPr>
            </a:lvl9pPr>
          </a:lstStyle>
          <a:p/>
        </p:txBody>
      </p:sp>
      <p:sp>
        <p:nvSpPr>
          <p:cNvPr id="48" name="Google Shape;48;p3"/>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chemeClr val="dk2"/>
        </a:solidFill>
      </p:bgPr>
    </p:bg>
    <p:spTree>
      <p:nvGrpSpPr>
        <p:cNvPr id="49" name="Shape 49"/>
        <p:cNvGrpSpPr/>
        <p:nvPr/>
      </p:nvGrpSpPr>
      <p:grpSpPr>
        <a:xfrm>
          <a:off x="0" y="0"/>
          <a:ext cx="0" cy="0"/>
          <a:chOff x="0" y="0"/>
          <a:chExt cx="0" cy="0"/>
        </a:xfrm>
      </p:grpSpPr>
      <p:sp>
        <p:nvSpPr>
          <p:cNvPr id="50" name="Google Shape;50;p4"/>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4"/>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4"/>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4" name="Google Shape;54;p4"/>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lvl1pPr indent="-311150" lvl="0" marL="457200">
              <a:lnSpc>
                <a:spcPct val="100000"/>
              </a:lnSpc>
              <a:spcBef>
                <a:spcPts val="0"/>
              </a:spcBef>
              <a:spcAft>
                <a:spcPts val="0"/>
              </a:spcAft>
              <a:buSzPts val="1300"/>
              <a:buChar char="●"/>
              <a:defRPr/>
            </a:lvl1pPr>
            <a:lvl2pPr indent="-298450" lvl="1" marL="914400">
              <a:spcBef>
                <a:spcPts val="40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4"/>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chemeClr val="dk2"/>
        </a:solidFill>
      </p:bgPr>
    </p:bg>
    <p:spTree>
      <p:nvGrpSpPr>
        <p:cNvPr id="56" name="Shape 56"/>
        <p:cNvGrpSpPr/>
        <p:nvPr/>
      </p:nvGrpSpPr>
      <p:grpSpPr>
        <a:xfrm>
          <a:off x="0" y="0"/>
          <a:ext cx="0" cy="0"/>
          <a:chOff x="0" y="0"/>
          <a:chExt cx="0" cy="0"/>
        </a:xfrm>
      </p:grpSpPr>
      <p:sp>
        <p:nvSpPr>
          <p:cNvPr id="57" name="Google Shape;57;p5"/>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5"/>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5"/>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5"/>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1" name="Google Shape;61;p5"/>
          <p:cNvSpPr txBox="1"/>
          <p:nvPr>
            <p:ph idx="1" type="body"/>
          </p:nvPr>
        </p:nvSpPr>
        <p:spPr>
          <a:xfrm>
            <a:off x="819150"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2" name="Google Shape;62;p5"/>
          <p:cNvSpPr txBox="1"/>
          <p:nvPr>
            <p:ph idx="2" type="body"/>
          </p:nvPr>
        </p:nvSpPr>
        <p:spPr>
          <a:xfrm>
            <a:off x="4638675"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3" name="Google Shape;63;p5"/>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dk2"/>
        </a:solidFill>
      </p:bgPr>
    </p:bg>
    <p:spTree>
      <p:nvGrpSpPr>
        <p:cNvPr id="64" name="Shape 64"/>
        <p:cNvGrpSpPr/>
        <p:nvPr/>
      </p:nvGrpSpPr>
      <p:grpSpPr>
        <a:xfrm>
          <a:off x="0" y="0"/>
          <a:ext cx="0" cy="0"/>
          <a:chOff x="0" y="0"/>
          <a:chExt cx="0" cy="0"/>
        </a:xfrm>
      </p:grpSpPr>
      <p:sp>
        <p:nvSpPr>
          <p:cNvPr id="65" name="Google Shape;65;p6"/>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6"/>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6"/>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9" name="Google Shape;69;p6"/>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solidFill>
          <a:schemeClr val="accent3"/>
        </a:solidFill>
      </p:bgPr>
    </p:bg>
    <p:spTree>
      <p:nvGrpSpPr>
        <p:cNvPr id="70" name="Shape 70"/>
        <p:cNvGrpSpPr/>
        <p:nvPr/>
      </p:nvGrpSpPr>
      <p:grpSpPr>
        <a:xfrm>
          <a:off x="0" y="0"/>
          <a:ext cx="0" cy="0"/>
          <a:chOff x="0" y="0"/>
          <a:chExt cx="0" cy="0"/>
        </a:xfrm>
      </p:grpSpPr>
      <p:sp>
        <p:nvSpPr>
          <p:cNvPr id="71" name="Google Shape;71;p7"/>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7"/>
          <p:cNvSpPr/>
          <p:nvPr/>
        </p:nvSpPr>
        <p:spPr>
          <a:xfrm>
            <a:off x="31" y="2824500"/>
            <a:ext cx="7370400" cy="23190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7"/>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7"/>
          <p:cNvSpPr txBox="1"/>
          <p:nvPr>
            <p:ph type="title"/>
          </p:nvPr>
        </p:nvSpPr>
        <p:spPr>
          <a:xfrm>
            <a:off x="819150" y="845600"/>
            <a:ext cx="3709200" cy="1383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75" name="Google Shape;75;p7"/>
          <p:cNvSpPr txBox="1"/>
          <p:nvPr>
            <p:ph idx="1" type="body"/>
          </p:nvPr>
        </p:nvSpPr>
        <p:spPr>
          <a:xfrm>
            <a:off x="830700" y="2319050"/>
            <a:ext cx="3709200" cy="2119800"/>
          </a:xfrm>
          <a:prstGeom prst="rect">
            <a:avLst/>
          </a:prstGeom>
        </p:spPr>
        <p:txBody>
          <a:bodyPr anchorCtr="0" anchor="t" bIns="91425" lIns="91425" spcFirstLastPara="1" rIns="91425" wrap="square" tIns="91425">
            <a:normAutofit/>
          </a:bodyPr>
          <a:lstStyle>
            <a:lvl1pPr indent="-311150" lvl="0" marL="457200">
              <a:lnSpc>
                <a:spcPct val="100000"/>
              </a:lnSpc>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76" name="Google Shape;76;p7"/>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1"/>
        </a:solidFill>
      </p:bgPr>
    </p:bg>
    <p:spTree>
      <p:nvGrpSpPr>
        <p:cNvPr id="77" name="Shape 77"/>
        <p:cNvGrpSpPr/>
        <p:nvPr/>
      </p:nvGrpSpPr>
      <p:grpSpPr>
        <a:xfrm>
          <a:off x="0" y="0"/>
          <a:ext cx="0" cy="0"/>
          <a:chOff x="0" y="0"/>
          <a:chExt cx="0" cy="0"/>
        </a:xfrm>
      </p:grpSpPr>
      <p:sp>
        <p:nvSpPr>
          <p:cNvPr id="78" name="Google Shape;78;p8"/>
          <p:cNvSpPr/>
          <p:nvPr/>
        </p:nvSpPr>
        <p:spPr>
          <a:xfrm>
            <a:off x="0" y="2823144"/>
            <a:ext cx="7369200" cy="23169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flipH="1">
            <a:off x="3583210" y="1554113"/>
            <a:ext cx="5560500" cy="35895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0" name="Google Shape;80;p8"/>
          <p:cNvGrpSpPr/>
          <p:nvPr/>
        </p:nvGrpSpPr>
        <p:grpSpPr>
          <a:xfrm>
            <a:off x="255991" y="-118"/>
            <a:ext cx="2251347" cy="1043408"/>
            <a:chOff x="3961956" y="4383950"/>
            <a:chExt cx="1160548" cy="548700"/>
          </a:xfrm>
        </p:grpSpPr>
        <p:sp>
          <p:nvSpPr>
            <p:cNvPr id="81" name="Google Shape;81;p8"/>
            <p:cNvSpPr/>
            <p:nvPr/>
          </p:nvSpPr>
          <p:spPr>
            <a:xfrm>
              <a:off x="4224904"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a:off x="4093430"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a:off x="3961956"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4" name="Google Shape;84;p8"/>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5" name="Google Shape;85;p8"/>
          <p:cNvGrpSpPr/>
          <p:nvPr/>
        </p:nvGrpSpPr>
        <p:grpSpPr>
          <a:xfrm>
            <a:off x="34934" y="4522125"/>
            <a:ext cx="1593306" cy="617072"/>
            <a:chOff x="6917201" y="0"/>
            <a:chExt cx="2227777" cy="863400"/>
          </a:xfrm>
        </p:grpSpPr>
        <p:sp>
          <p:nvSpPr>
            <p:cNvPr id="86" name="Google Shape;86;p8"/>
            <p:cNvSpPr/>
            <p:nvPr/>
          </p:nvSpPr>
          <p:spPr>
            <a:xfrm>
              <a:off x="7641677"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a:off x="7279439"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a:off x="6917201"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 name="Google Shape;89;p8"/>
          <p:cNvGrpSpPr/>
          <p:nvPr/>
        </p:nvGrpSpPr>
        <p:grpSpPr>
          <a:xfrm>
            <a:off x="5886353" y="1243"/>
            <a:ext cx="3257455" cy="1261514"/>
            <a:chOff x="6917201" y="0"/>
            <a:chExt cx="2227777" cy="863400"/>
          </a:xfrm>
        </p:grpSpPr>
        <p:sp>
          <p:nvSpPr>
            <p:cNvPr id="90" name="Google Shape;90;p8"/>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8"/>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8"/>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3" name="Google Shape;93;p8"/>
          <p:cNvSpPr txBox="1"/>
          <p:nvPr>
            <p:ph type="title"/>
          </p:nvPr>
        </p:nvSpPr>
        <p:spPr>
          <a:xfrm>
            <a:off x="1393929" y="1301146"/>
            <a:ext cx="6366900" cy="25392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200"/>
              <a:buNone/>
              <a:defRPr sz="3200"/>
            </a:lvl1pPr>
            <a:lvl2pPr lvl="1" algn="ctr">
              <a:spcBef>
                <a:spcPts val="0"/>
              </a:spcBef>
              <a:spcAft>
                <a:spcPts val="0"/>
              </a:spcAft>
              <a:buSzPts val="3200"/>
              <a:buNone/>
              <a:defRPr sz="3200"/>
            </a:lvl2pPr>
            <a:lvl3pPr lvl="2" algn="ctr">
              <a:spcBef>
                <a:spcPts val="0"/>
              </a:spcBef>
              <a:spcAft>
                <a:spcPts val="0"/>
              </a:spcAft>
              <a:buSzPts val="3200"/>
              <a:buNone/>
              <a:defRPr sz="3200"/>
            </a:lvl3pPr>
            <a:lvl4pPr lvl="3" algn="ctr">
              <a:spcBef>
                <a:spcPts val="0"/>
              </a:spcBef>
              <a:spcAft>
                <a:spcPts val="0"/>
              </a:spcAft>
              <a:buSzPts val="3200"/>
              <a:buNone/>
              <a:defRPr sz="3200"/>
            </a:lvl4pPr>
            <a:lvl5pPr lvl="4" algn="ctr">
              <a:spcBef>
                <a:spcPts val="0"/>
              </a:spcBef>
              <a:spcAft>
                <a:spcPts val="0"/>
              </a:spcAft>
              <a:buSzPts val="3200"/>
              <a:buNone/>
              <a:defRPr sz="3200"/>
            </a:lvl5pPr>
            <a:lvl6pPr lvl="5" algn="ctr">
              <a:spcBef>
                <a:spcPts val="0"/>
              </a:spcBef>
              <a:spcAft>
                <a:spcPts val="0"/>
              </a:spcAft>
              <a:buSzPts val="3200"/>
              <a:buNone/>
              <a:defRPr sz="3200"/>
            </a:lvl6pPr>
            <a:lvl7pPr lvl="6" algn="ctr">
              <a:spcBef>
                <a:spcPts val="0"/>
              </a:spcBef>
              <a:spcAft>
                <a:spcPts val="0"/>
              </a:spcAft>
              <a:buSzPts val="3200"/>
              <a:buNone/>
              <a:defRPr sz="3200"/>
            </a:lvl7pPr>
            <a:lvl8pPr lvl="7" algn="ctr">
              <a:spcBef>
                <a:spcPts val="0"/>
              </a:spcBef>
              <a:spcAft>
                <a:spcPts val="0"/>
              </a:spcAft>
              <a:buSzPts val="3200"/>
              <a:buNone/>
              <a:defRPr sz="3200"/>
            </a:lvl8pPr>
            <a:lvl9pPr lvl="8" algn="ctr">
              <a:spcBef>
                <a:spcPts val="0"/>
              </a:spcBef>
              <a:spcAft>
                <a:spcPts val="0"/>
              </a:spcAft>
              <a:buSzPts val="3200"/>
              <a:buNone/>
              <a:defRPr sz="3200"/>
            </a:lvl9pPr>
          </a:lstStyle>
          <a:p/>
        </p:txBody>
      </p:sp>
      <p:sp>
        <p:nvSpPr>
          <p:cNvPr id="94" name="Google Shape;94;p8"/>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2"/>
        </a:solidFill>
      </p:bgPr>
    </p:bg>
    <p:spTree>
      <p:nvGrpSpPr>
        <p:cNvPr id="95" name="Shape 95"/>
        <p:cNvGrpSpPr/>
        <p:nvPr/>
      </p:nvGrpSpPr>
      <p:grpSpPr>
        <a:xfrm>
          <a:off x="0" y="0"/>
          <a:ext cx="0" cy="0"/>
          <a:chOff x="0" y="0"/>
          <a:chExt cx="0" cy="0"/>
        </a:xfrm>
      </p:grpSpPr>
      <p:sp>
        <p:nvSpPr>
          <p:cNvPr id="96" name="Google Shape;96;p9"/>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9"/>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9"/>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9"/>
          <p:cNvSpPr txBox="1"/>
          <p:nvPr>
            <p:ph type="title"/>
          </p:nvPr>
        </p:nvSpPr>
        <p:spPr>
          <a:xfrm>
            <a:off x="819150" y="845600"/>
            <a:ext cx="6424200" cy="705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00" name="Google Shape;100;p9"/>
          <p:cNvSpPr txBox="1"/>
          <p:nvPr>
            <p:ph idx="1" type="subTitle"/>
          </p:nvPr>
        </p:nvSpPr>
        <p:spPr>
          <a:xfrm>
            <a:off x="819150" y="1550700"/>
            <a:ext cx="5859900" cy="3936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101" name="Google Shape;101;p9"/>
          <p:cNvSpPr txBox="1"/>
          <p:nvPr>
            <p:ph idx="2" type="body"/>
          </p:nvPr>
        </p:nvSpPr>
        <p:spPr>
          <a:xfrm>
            <a:off x="819150" y="2467050"/>
            <a:ext cx="5859900" cy="209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02" name="Google Shape;102;p9"/>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solidFill>
          <a:schemeClr val="accent1"/>
        </a:solidFill>
      </p:bgPr>
    </p:bg>
    <p:spTree>
      <p:nvGrpSpPr>
        <p:cNvPr id="103" name="Shape 103"/>
        <p:cNvGrpSpPr/>
        <p:nvPr/>
      </p:nvGrpSpPr>
      <p:grpSpPr>
        <a:xfrm>
          <a:off x="0" y="0"/>
          <a:ext cx="0" cy="0"/>
          <a:chOff x="0" y="0"/>
          <a:chExt cx="0" cy="0"/>
        </a:xfrm>
      </p:grpSpPr>
      <p:sp>
        <p:nvSpPr>
          <p:cNvPr id="104" name="Google Shape;104;p10"/>
          <p:cNvSpPr/>
          <p:nvPr/>
        </p:nvSpPr>
        <p:spPr>
          <a:xfrm>
            <a:off x="31" y="2824500"/>
            <a:ext cx="7370400" cy="23190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0"/>
          <p:cNvSpPr/>
          <p:nvPr/>
        </p:nvSpPr>
        <p:spPr>
          <a:xfrm flipH="1">
            <a:off x="3582600" y="1550700"/>
            <a:ext cx="5561400" cy="35928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0"/>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0"/>
          <p:cNvSpPr txBox="1"/>
          <p:nvPr>
            <p:ph idx="1" type="body"/>
          </p:nvPr>
        </p:nvSpPr>
        <p:spPr>
          <a:xfrm>
            <a:off x="328025" y="4163500"/>
            <a:ext cx="7415100" cy="605100"/>
          </a:xfrm>
          <a:prstGeom prst="rect">
            <a:avLst/>
          </a:prstGeom>
        </p:spPr>
        <p:txBody>
          <a:bodyPr anchorCtr="0" anchor="b"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8" name="Google Shape;108;p10"/>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09" name="Shape 109"/>
        <p:cNvGrpSpPr/>
        <p:nvPr/>
      </p:nvGrpSpPr>
      <p:grpSpPr>
        <a:xfrm>
          <a:off x="0" y="0"/>
          <a:ext cx="0" cy="0"/>
          <a:chOff x="0" y="0"/>
          <a:chExt cx="0" cy="0"/>
        </a:xfrm>
      </p:grpSpPr>
      <p:sp>
        <p:nvSpPr>
          <p:cNvPr id="110" name="Google Shape;110;p11"/>
          <p:cNvSpPr/>
          <p:nvPr/>
        </p:nvSpPr>
        <p:spPr>
          <a:xfrm flipH="1">
            <a:off x="5569200" y="2834075"/>
            <a:ext cx="3574800" cy="23094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1" name="Google Shape;111;p11"/>
          <p:cNvGrpSpPr/>
          <p:nvPr/>
        </p:nvGrpSpPr>
        <p:grpSpPr>
          <a:xfrm>
            <a:off x="5959222" y="4119576"/>
            <a:ext cx="2520952" cy="1024165"/>
            <a:chOff x="6917201" y="0"/>
            <a:chExt cx="2227777" cy="863400"/>
          </a:xfrm>
        </p:grpSpPr>
        <p:sp>
          <p:nvSpPr>
            <p:cNvPr id="112" name="Google Shape;112;p11"/>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5" name="Google Shape;115;p11"/>
          <p:cNvGrpSpPr/>
          <p:nvPr/>
        </p:nvGrpSpPr>
        <p:grpSpPr>
          <a:xfrm>
            <a:off x="199149" y="2"/>
            <a:ext cx="2795414" cy="1083308"/>
            <a:chOff x="6917201" y="0"/>
            <a:chExt cx="2227777" cy="863400"/>
          </a:xfrm>
        </p:grpSpPr>
        <p:sp>
          <p:nvSpPr>
            <p:cNvPr id="116" name="Google Shape;116;p11"/>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9" name="Google Shape;119;p11"/>
          <p:cNvSpPr txBox="1"/>
          <p:nvPr>
            <p:ph hasCustomPrompt="1" type="title"/>
          </p:nvPr>
        </p:nvSpPr>
        <p:spPr>
          <a:xfrm>
            <a:off x="1385850" y="1383850"/>
            <a:ext cx="6372300" cy="13797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8600"/>
              <a:buNone/>
              <a:defRPr sz="8600">
                <a:solidFill>
                  <a:schemeClr val="dk2"/>
                </a:solidFill>
              </a:defRPr>
            </a:lvl1pPr>
            <a:lvl2pPr lvl="1" algn="ctr">
              <a:spcBef>
                <a:spcPts val="0"/>
              </a:spcBef>
              <a:spcAft>
                <a:spcPts val="0"/>
              </a:spcAft>
              <a:buClr>
                <a:schemeClr val="dk2"/>
              </a:buClr>
              <a:buSzPts val="8600"/>
              <a:buNone/>
              <a:defRPr sz="8600">
                <a:solidFill>
                  <a:schemeClr val="dk2"/>
                </a:solidFill>
              </a:defRPr>
            </a:lvl2pPr>
            <a:lvl3pPr lvl="2" algn="ctr">
              <a:spcBef>
                <a:spcPts val="0"/>
              </a:spcBef>
              <a:spcAft>
                <a:spcPts val="0"/>
              </a:spcAft>
              <a:buClr>
                <a:schemeClr val="dk2"/>
              </a:buClr>
              <a:buSzPts val="8600"/>
              <a:buNone/>
              <a:defRPr sz="8600">
                <a:solidFill>
                  <a:schemeClr val="dk2"/>
                </a:solidFill>
              </a:defRPr>
            </a:lvl3pPr>
            <a:lvl4pPr lvl="3" algn="ctr">
              <a:spcBef>
                <a:spcPts val="0"/>
              </a:spcBef>
              <a:spcAft>
                <a:spcPts val="0"/>
              </a:spcAft>
              <a:buClr>
                <a:schemeClr val="dk2"/>
              </a:buClr>
              <a:buSzPts val="8600"/>
              <a:buNone/>
              <a:defRPr sz="8600">
                <a:solidFill>
                  <a:schemeClr val="dk2"/>
                </a:solidFill>
              </a:defRPr>
            </a:lvl4pPr>
            <a:lvl5pPr lvl="4" algn="ctr">
              <a:spcBef>
                <a:spcPts val="0"/>
              </a:spcBef>
              <a:spcAft>
                <a:spcPts val="0"/>
              </a:spcAft>
              <a:buClr>
                <a:schemeClr val="dk2"/>
              </a:buClr>
              <a:buSzPts val="8600"/>
              <a:buNone/>
              <a:defRPr sz="8600">
                <a:solidFill>
                  <a:schemeClr val="dk2"/>
                </a:solidFill>
              </a:defRPr>
            </a:lvl5pPr>
            <a:lvl6pPr lvl="5" algn="ctr">
              <a:spcBef>
                <a:spcPts val="0"/>
              </a:spcBef>
              <a:spcAft>
                <a:spcPts val="0"/>
              </a:spcAft>
              <a:buClr>
                <a:schemeClr val="dk2"/>
              </a:buClr>
              <a:buSzPts val="8600"/>
              <a:buNone/>
              <a:defRPr sz="8600">
                <a:solidFill>
                  <a:schemeClr val="dk2"/>
                </a:solidFill>
              </a:defRPr>
            </a:lvl6pPr>
            <a:lvl7pPr lvl="6" algn="ctr">
              <a:spcBef>
                <a:spcPts val="0"/>
              </a:spcBef>
              <a:spcAft>
                <a:spcPts val="0"/>
              </a:spcAft>
              <a:buClr>
                <a:schemeClr val="dk2"/>
              </a:buClr>
              <a:buSzPts val="8600"/>
              <a:buNone/>
              <a:defRPr sz="8600">
                <a:solidFill>
                  <a:schemeClr val="dk2"/>
                </a:solidFill>
              </a:defRPr>
            </a:lvl7pPr>
            <a:lvl8pPr lvl="7" algn="ctr">
              <a:spcBef>
                <a:spcPts val="0"/>
              </a:spcBef>
              <a:spcAft>
                <a:spcPts val="0"/>
              </a:spcAft>
              <a:buClr>
                <a:schemeClr val="dk2"/>
              </a:buClr>
              <a:buSzPts val="8600"/>
              <a:buNone/>
              <a:defRPr sz="8600">
                <a:solidFill>
                  <a:schemeClr val="dk2"/>
                </a:solidFill>
              </a:defRPr>
            </a:lvl8pPr>
            <a:lvl9pPr lvl="8" algn="ctr">
              <a:spcBef>
                <a:spcPts val="0"/>
              </a:spcBef>
              <a:spcAft>
                <a:spcPts val="0"/>
              </a:spcAft>
              <a:buClr>
                <a:schemeClr val="dk2"/>
              </a:buClr>
              <a:buSzPts val="8600"/>
              <a:buNone/>
              <a:defRPr sz="8600">
                <a:solidFill>
                  <a:schemeClr val="dk2"/>
                </a:solidFill>
              </a:defRPr>
            </a:lvl9pPr>
          </a:lstStyle>
          <a:p>
            <a:r>
              <a:t>xx%</a:t>
            </a:r>
          </a:p>
        </p:txBody>
      </p:sp>
      <p:sp>
        <p:nvSpPr>
          <p:cNvPr id="120" name="Google Shape;120;p11"/>
          <p:cNvSpPr txBox="1"/>
          <p:nvPr>
            <p:ph idx="1" type="body"/>
          </p:nvPr>
        </p:nvSpPr>
        <p:spPr>
          <a:xfrm>
            <a:off x="1385850" y="2863850"/>
            <a:ext cx="6372300" cy="6411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SzPts val="1300"/>
              <a:buChar char="●"/>
              <a:defRPr/>
            </a:lvl1pPr>
            <a:lvl2pPr indent="-298450" lvl="1" marL="914400" algn="ctr">
              <a:spcBef>
                <a:spcPts val="0"/>
              </a:spcBef>
              <a:spcAft>
                <a:spcPts val="0"/>
              </a:spcAft>
              <a:buSzPts val="1100"/>
              <a:buChar char="○"/>
              <a:defRPr/>
            </a:lvl2pPr>
            <a:lvl3pPr indent="-298450" lvl="2" marL="1371600" algn="ctr">
              <a:spcBef>
                <a:spcPts val="0"/>
              </a:spcBef>
              <a:spcAft>
                <a:spcPts val="0"/>
              </a:spcAft>
              <a:buSzPts val="1100"/>
              <a:buChar char="■"/>
              <a:defRPr/>
            </a:lvl3pPr>
            <a:lvl4pPr indent="-298450" lvl="3" marL="1828800" algn="ctr">
              <a:spcBef>
                <a:spcPts val="0"/>
              </a:spcBef>
              <a:spcAft>
                <a:spcPts val="0"/>
              </a:spcAft>
              <a:buSzPts val="1100"/>
              <a:buChar char="●"/>
              <a:defRPr/>
            </a:lvl4pPr>
            <a:lvl5pPr indent="-298450" lvl="4" marL="2286000" algn="ctr">
              <a:spcBef>
                <a:spcPts val="0"/>
              </a:spcBef>
              <a:spcAft>
                <a:spcPts val="0"/>
              </a:spcAft>
              <a:buSzPts val="1100"/>
              <a:buChar char="○"/>
              <a:defRPr/>
            </a:lvl5pPr>
            <a:lvl6pPr indent="-298450" lvl="5" marL="2743200" algn="ctr">
              <a:spcBef>
                <a:spcPts val="0"/>
              </a:spcBef>
              <a:spcAft>
                <a:spcPts val="0"/>
              </a:spcAft>
              <a:buSzPts val="1100"/>
              <a:buChar char="■"/>
              <a:defRPr/>
            </a:lvl6pPr>
            <a:lvl7pPr indent="-298450" lvl="6" marL="3200400" algn="ctr">
              <a:spcBef>
                <a:spcPts val="0"/>
              </a:spcBef>
              <a:spcAft>
                <a:spcPts val="0"/>
              </a:spcAft>
              <a:buSzPts val="1100"/>
              <a:buChar char="●"/>
              <a:defRPr/>
            </a:lvl7pPr>
            <a:lvl8pPr indent="-298450" lvl="7" marL="3657600" algn="ctr">
              <a:spcBef>
                <a:spcPts val="0"/>
              </a:spcBef>
              <a:spcAft>
                <a:spcPts val="0"/>
              </a:spcAft>
              <a:buSzPts val="1100"/>
              <a:buChar char="○"/>
              <a:defRPr/>
            </a:lvl8pPr>
            <a:lvl9pPr indent="-298450" lvl="8" marL="4114800" algn="ctr">
              <a:spcBef>
                <a:spcPts val="0"/>
              </a:spcBef>
              <a:spcAft>
                <a:spcPts val="0"/>
              </a:spcAft>
              <a:buSzPts val="1100"/>
              <a:buChar char="■"/>
              <a:defRPr/>
            </a:lvl9pPr>
          </a:lstStyle>
          <a:p/>
        </p:txBody>
      </p:sp>
      <p:sp>
        <p:nvSpPr>
          <p:cNvPr id="121" name="Google Shape;121;p11"/>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2" name="Shape 122"/>
        <p:cNvGrpSpPr/>
        <p:nvPr/>
      </p:nvGrpSpPr>
      <p:grpSpPr>
        <a:xfrm>
          <a:off x="0" y="0"/>
          <a:ext cx="0" cy="0"/>
          <a:chOff x="0" y="0"/>
          <a:chExt cx="0" cy="0"/>
        </a:xfrm>
      </p:grpSpPr>
      <p:sp>
        <p:nvSpPr>
          <p:cNvPr id="123" name="Google Shape;123;p1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hift">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1pPr>
            <a:lvl2pPr lvl="1">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2pPr>
            <a:lvl3pPr lvl="2">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3pPr>
            <a:lvl4pPr lvl="3">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4pPr>
            <a:lvl5pPr lvl="4">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5pPr>
            <a:lvl6pPr lvl="5">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6pPr>
            <a:lvl7pPr lvl="6">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7pPr>
            <a:lvl8pPr lvl="7">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8pPr>
            <a:lvl9pPr lvl="8">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9pPr>
          </a:lstStyle>
          <a:p/>
        </p:txBody>
      </p:sp>
      <p:sp>
        <p:nvSpPr>
          <p:cNvPr id="7" name="Google Shape;7;p1"/>
          <p:cNvSpPr txBox="1"/>
          <p:nvPr>
            <p:ph idx="1" type="body"/>
          </p:nvPr>
        </p:nvSpPr>
        <p:spPr>
          <a:xfrm>
            <a:off x="311700" y="1152475"/>
            <a:ext cx="8520600" cy="33912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Calibri"/>
              <a:buChar char="●"/>
              <a:defRPr sz="1300">
                <a:solidFill>
                  <a:schemeClr val="dk2"/>
                </a:solidFill>
                <a:latin typeface="Calibri"/>
                <a:ea typeface="Calibri"/>
                <a:cs typeface="Calibri"/>
                <a:sym typeface="Calibri"/>
              </a:defRPr>
            </a:lvl1pPr>
            <a:lvl2pPr indent="-298450" lvl="1" marL="914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2pPr>
            <a:lvl3pPr indent="-298450" lvl="2" marL="1371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3pPr>
            <a:lvl4pPr indent="-298450" lvl="3" marL="1828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4pPr>
            <a:lvl5pPr indent="-298450" lvl="4" marL="22860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5pPr>
            <a:lvl6pPr indent="-298450" lvl="5" marL="27432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6pPr>
            <a:lvl7pPr indent="-298450" lvl="6" marL="3200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7pPr>
            <a:lvl8pPr indent="-298450" lvl="7" marL="3657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8pPr>
            <a:lvl9pPr indent="-298450" lvl="8" marL="4114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9pPr>
          </a:lstStyle>
          <a:p/>
        </p:txBody>
      </p:sp>
      <p:sp>
        <p:nvSpPr>
          <p:cNvPr id="8" name="Google Shape;8;p1"/>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Nunito"/>
                <a:ea typeface="Nunito"/>
                <a:cs typeface="Nunito"/>
                <a:sym typeface="Nunito"/>
              </a:defRPr>
            </a:lvl1pPr>
            <a:lvl2pPr lvl="1" algn="r">
              <a:buNone/>
              <a:defRPr sz="1000">
                <a:solidFill>
                  <a:schemeClr val="dk2"/>
                </a:solidFill>
                <a:latin typeface="Nunito"/>
                <a:ea typeface="Nunito"/>
                <a:cs typeface="Nunito"/>
                <a:sym typeface="Nunito"/>
              </a:defRPr>
            </a:lvl2pPr>
            <a:lvl3pPr lvl="2" algn="r">
              <a:buNone/>
              <a:defRPr sz="1000">
                <a:solidFill>
                  <a:schemeClr val="dk2"/>
                </a:solidFill>
                <a:latin typeface="Nunito"/>
                <a:ea typeface="Nunito"/>
                <a:cs typeface="Nunito"/>
                <a:sym typeface="Nunito"/>
              </a:defRPr>
            </a:lvl3pPr>
            <a:lvl4pPr lvl="3" algn="r">
              <a:buNone/>
              <a:defRPr sz="1000">
                <a:solidFill>
                  <a:schemeClr val="dk2"/>
                </a:solidFill>
                <a:latin typeface="Nunito"/>
                <a:ea typeface="Nunito"/>
                <a:cs typeface="Nunito"/>
                <a:sym typeface="Nunito"/>
              </a:defRPr>
            </a:lvl4pPr>
            <a:lvl5pPr lvl="4" algn="r">
              <a:buNone/>
              <a:defRPr sz="1000">
                <a:solidFill>
                  <a:schemeClr val="dk2"/>
                </a:solidFill>
                <a:latin typeface="Nunito"/>
                <a:ea typeface="Nunito"/>
                <a:cs typeface="Nunito"/>
                <a:sym typeface="Nunito"/>
              </a:defRPr>
            </a:lvl5pPr>
            <a:lvl6pPr lvl="5" algn="r">
              <a:buNone/>
              <a:defRPr sz="1000">
                <a:solidFill>
                  <a:schemeClr val="dk2"/>
                </a:solidFill>
                <a:latin typeface="Nunito"/>
                <a:ea typeface="Nunito"/>
                <a:cs typeface="Nunito"/>
                <a:sym typeface="Nunito"/>
              </a:defRPr>
            </a:lvl6pPr>
            <a:lvl7pPr lvl="6" algn="r">
              <a:buNone/>
              <a:defRPr sz="1000">
                <a:solidFill>
                  <a:schemeClr val="dk2"/>
                </a:solidFill>
                <a:latin typeface="Nunito"/>
                <a:ea typeface="Nunito"/>
                <a:cs typeface="Nunito"/>
                <a:sym typeface="Nunito"/>
              </a:defRPr>
            </a:lvl7pPr>
            <a:lvl8pPr lvl="7" algn="r">
              <a:buNone/>
              <a:defRPr sz="1000">
                <a:solidFill>
                  <a:schemeClr val="dk2"/>
                </a:solidFill>
                <a:latin typeface="Nunito"/>
                <a:ea typeface="Nunito"/>
                <a:cs typeface="Nunito"/>
                <a:sym typeface="Nunito"/>
              </a:defRPr>
            </a:lvl8pPr>
            <a:lvl9pPr lvl="8" algn="r">
              <a:buNone/>
              <a:defRPr sz="10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iw"/>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hyperlink" Target="https://nodejs.org/en" TargetMode="External"/><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hyperlink" Target="http://index.js"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hyperlink" Target="http://localhost:3000/courses" TargetMode="External"/><Relationship Id="rId4" Type="http://schemas.openxmlformats.org/officeDocument/2006/relationships/hyperlink" Target="http://localhost:3000/teachers" TargetMode="External"/><Relationship Id="rId5" Type="http://schemas.openxmlformats.org/officeDocument/2006/relationships/hyperlink" Target="http://localhost:3000/products/33"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hyperlink" Target="http://app.js" TargetMode="External"/><Relationship Id="rId4" Type="http://schemas.openxmlformats.org/officeDocument/2006/relationships/hyperlink" Target="http://index.js"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hyperlink" Target="http://localhost:3000" TargetMode="External"/><Relationship Id="rId4" Type="http://schemas.openxmlformats.org/officeDocument/2006/relationships/hyperlink" Target="http://localhost:3000/courses" TargetMode="External"/><Relationship Id="rId5" Type="http://schemas.openxmlformats.org/officeDocument/2006/relationships/hyperlink" Target="http://localhost:3000/students"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hyperlink" Target="http://localhost:3000/courses"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hyperlink" Target="http://localhost:3000/deleteOneProductFromStore" TargetMode="External"/><Relationship Id="rId4" Type="http://schemas.openxmlformats.org/officeDocument/2006/relationships/hyperlink" Target="http://localhost:3000/product" TargetMode="External"/><Relationship Id="rId5" Type="http://schemas.openxmlformats.org/officeDocument/2006/relationships/hyperlink" Target="http://localhost:3000/createNewCourse" TargetMode="External"/><Relationship Id="rId6" Type="http://schemas.openxmlformats.org/officeDocument/2006/relationships/hyperlink" Target="http://localhost:3000/course"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hyperlink" Target="http://localhost:3000/courses/4"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hyperlink" Target="http://localhost:3000/course/4"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hyperlink" Target="http://app.post"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hyperlink" Target="http://app.js"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3"/>
          <p:cNvSpPr txBox="1"/>
          <p:nvPr>
            <p:ph type="ctrTitle"/>
          </p:nvPr>
        </p:nvSpPr>
        <p:spPr>
          <a:xfrm>
            <a:off x="1858703" y="1822833"/>
            <a:ext cx="5361300" cy="14481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iw"/>
              <a:t>Nodejs</a:t>
            </a:r>
            <a:endParaRPr/>
          </a:p>
        </p:txBody>
      </p:sp>
      <p:sp>
        <p:nvSpPr>
          <p:cNvPr id="129" name="Google Shape;129;p13"/>
          <p:cNvSpPr txBox="1"/>
          <p:nvPr>
            <p:ph idx="1" type="subTitle"/>
          </p:nvPr>
        </p:nvSpPr>
        <p:spPr>
          <a:xfrm>
            <a:off x="1858700" y="3413158"/>
            <a:ext cx="5361300" cy="52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iw"/>
              <a:t>basic server development</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t>מטרות הקורס</a:t>
            </a:r>
            <a:endParaRPr/>
          </a:p>
        </p:txBody>
      </p:sp>
      <p:sp>
        <p:nvSpPr>
          <p:cNvPr id="135" name="Google Shape;135;p14"/>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t>מטרת העל-</a:t>
            </a:r>
            <a:r>
              <a:rPr lang="iw"/>
              <a:t> לימוד יחידת חומר בצורה עצמאית</a:t>
            </a:r>
            <a:endParaRPr>
              <a:solidFill>
                <a:srgbClr val="000000"/>
              </a:solidFill>
            </a:endParaRPr>
          </a:p>
          <a:p>
            <a:pPr indent="0" lvl="0" marL="0" rtl="1" algn="r">
              <a:spcBef>
                <a:spcPts val="400"/>
              </a:spcBef>
              <a:spcAft>
                <a:spcPts val="0"/>
              </a:spcAft>
              <a:buNone/>
            </a:pPr>
            <a:r>
              <a:t/>
            </a:r>
            <a:endParaRPr/>
          </a:p>
          <a:p>
            <a:pPr indent="0" lvl="0" marL="0" rtl="1" algn="r">
              <a:spcBef>
                <a:spcPts val="400"/>
              </a:spcBef>
              <a:spcAft>
                <a:spcPts val="0"/>
              </a:spcAft>
              <a:buNone/>
            </a:pPr>
            <a:r>
              <a:rPr lang="iw"/>
              <a:t>מטרות משנה:</a:t>
            </a:r>
            <a:endParaRPr/>
          </a:p>
          <a:p>
            <a:pPr indent="-311150" lvl="0" marL="457200" rtl="1" algn="r">
              <a:spcBef>
                <a:spcPts val="400"/>
              </a:spcBef>
              <a:spcAft>
                <a:spcPts val="0"/>
              </a:spcAft>
              <a:buSzPts val="1300"/>
              <a:buChar char="●"/>
            </a:pPr>
            <a:r>
              <a:rPr lang="iw"/>
              <a:t>לימוד שפת Node.js</a:t>
            </a:r>
            <a:endParaRPr/>
          </a:p>
          <a:p>
            <a:pPr indent="-311150" lvl="0" marL="457200" rtl="1" algn="r">
              <a:spcBef>
                <a:spcPts val="400"/>
              </a:spcBef>
              <a:spcAft>
                <a:spcPts val="0"/>
              </a:spcAft>
              <a:buSzPts val="1300"/>
              <a:buChar char="●"/>
            </a:pPr>
            <a:r>
              <a:rPr lang="iw"/>
              <a:t>למידה מונחית ai</a:t>
            </a:r>
            <a:endParaRPr/>
          </a:p>
          <a:p>
            <a:pPr indent="-311150" lvl="0" marL="457200" rtl="1" algn="r">
              <a:spcBef>
                <a:spcPts val="400"/>
              </a:spcBef>
              <a:spcAft>
                <a:spcPts val="0"/>
              </a:spcAft>
              <a:buSzPts val="1300"/>
              <a:buChar char="●"/>
            </a:pPr>
            <a:r>
              <a:rPr lang="iw"/>
              <a:t>הכרת צד שרת</a:t>
            </a:r>
            <a:endParaRPr/>
          </a:p>
          <a:p>
            <a:pPr indent="0" lvl="0" marL="0" rtl="1" algn="r">
              <a:spcBef>
                <a:spcPts val="400"/>
              </a:spcBef>
              <a:spcAft>
                <a:spcPts val="4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5"/>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t>אופן הלמידה בקורס</a:t>
            </a:r>
            <a:endParaRPr/>
          </a:p>
        </p:txBody>
      </p:sp>
      <p:sp>
        <p:nvSpPr>
          <p:cNvPr id="141" name="Google Shape;141;p15"/>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311150" lvl="0" marL="457200" rtl="1" algn="r">
              <a:spcBef>
                <a:spcPts val="0"/>
              </a:spcBef>
              <a:spcAft>
                <a:spcPts val="0"/>
              </a:spcAft>
              <a:buSzPts val="1300"/>
              <a:buChar char="●"/>
            </a:pPr>
            <a:r>
              <a:rPr lang="iw"/>
              <a:t>מפגש התחלה, אמצע וסיום פרונטלים</a:t>
            </a:r>
            <a:endParaRPr>
              <a:solidFill>
                <a:srgbClr val="000000"/>
              </a:solidFill>
            </a:endParaRPr>
          </a:p>
          <a:p>
            <a:pPr indent="-311150" lvl="0" marL="457200" rtl="1" algn="r">
              <a:spcBef>
                <a:spcPts val="400"/>
              </a:spcBef>
              <a:spcAft>
                <a:spcPts val="0"/>
              </a:spcAft>
              <a:buSzPts val="1300"/>
              <a:buChar char="●"/>
            </a:pPr>
            <a:r>
              <a:rPr lang="iw"/>
              <a:t>למידה עצמאית בין 2-4 שעות הכוללת למידה + תרגול</a:t>
            </a:r>
            <a:endParaRPr/>
          </a:p>
          <a:p>
            <a:pPr indent="0" lvl="0" marL="457200" rtl="1" algn="r">
              <a:spcBef>
                <a:spcPts val="400"/>
              </a:spcBef>
              <a:spcAft>
                <a:spcPts val="0"/>
              </a:spcAft>
              <a:buNone/>
            </a:pPr>
            <a:r>
              <a:t/>
            </a:r>
            <a:endParaRPr/>
          </a:p>
          <a:p>
            <a:pPr indent="0" lvl="0" marL="457200" rtl="1" algn="r">
              <a:spcBef>
                <a:spcPts val="400"/>
              </a:spcBef>
              <a:spcAft>
                <a:spcPts val="0"/>
              </a:spcAft>
              <a:buNone/>
            </a:pPr>
            <a:r>
              <a:t/>
            </a:r>
            <a:endParaRPr/>
          </a:p>
          <a:p>
            <a:pPr indent="0" lvl="0" marL="0" rtl="1" algn="r">
              <a:spcBef>
                <a:spcPts val="400"/>
              </a:spcBef>
              <a:spcAft>
                <a:spcPts val="4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t>חומר הלמידה </a:t>
            </a:r>
            <a:endParaRPr/>
          </a:p>
        </p:txBody>
      </p:sp>
      <p:sp>
        <p:nvSpPr>
          <p:cNvPr id="147" name="Google Shape;147;p16"/>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311150" lvl="0" marL="457200" rtl="1" algn="r">
              <a:spcBef>
                <a:spcPts val="0"/>
              </a:spcBef>
              <a:spcAft>
                <a:spcPts val="0"/>
              </a:spcAft>
              <a:buSzPts val="1300"/>
              <a:buChar char="●"/>
            </a:pPr>
            <a:r>
              <a:rPr lang="iw"/>
              <a:t>מצגת מלווה קורס</a:t>
            </a:r>
            <a:endParaRPr>
              <a:solidFill>
                <a:srgbClr val="000000"/>
              </a:solidFill>
            </a:endParaRPr>
          </a:p>
          <a:p>
            <a:pPr indent="-311150" lvl="0" marL="457200" rtl="1" algn="r">
              <a:spcBef>
                <a:spcPts val="400"/>
              </a:spcBef>
              <a:spcAft>
                <a:spcPts val="0"/>
              </a:spcAft>
              <a:buSzPts val="1300"/>
              <a:buChar char="●"/>
            </a:pPr>
            <a:r>
              <a:rPr lang="iw"/>
              <a:t>אינטרנט בסינון נטפרי </a:t>
            </a:r>
            <a:endParaRPr/>
          </a:p>
          <a:p>
            <a:pPr indent="-311150" lvl="0" marL="457200" rtl="1" algn="r">
              <a:spcBef>
                <a:spcPts val="400"/>
              </a:spcBef>
              <a:spcAft>
                <a:spcPts val="0"/>
              </a:spcAft>
              <a:buSzPts val="1300"/>
              <a:buChar char="●"/>
            </a:pPr>
            <a:r>
              <a:rPr lang="iw"/>
              <a:t>תוכנת vscode </a:t>
            </a:r>
            <a:endParaRPr/>
          </a:p>
          <a:p>
            <a:pPr indent="-311150" lvl="0" marL="457200" rtl="1" algn="r">
              <a:spcBef>
                <a:spcPts val="400"/>
              </a:spcBef>
              <a:spcAft>
                <a:spcPts val="0"/>
              </a:spcAft>
              <a:buSzPts val="1300"/>
              <a:buChar char="●"/>
            </a:pPr>
            <a:r>
              <a:rPr lang="iw"/>
              <a:t>תוכנת node.js מותקנת על המחשב (ילמד בשיעור)</a:t>
            </a:r>
            <a:endParaRPr/>
          </a:p>
          <a:p>
            <a:pPr indent="-311150" lvl="0" marL="457200" rtl="1" algn="r">
              <a:spcBef>
                <a:spcPts val="400"/>
              </a:spcBef>
              <a:spcAft>
                <a:spcPts val="0"/>
              </a:spcAft>
              <a:buSzPts val="1300"/>
              <a:buChar char="●"/>
            </a:pPr>
            <a:r>
              <a:rPr lang="iw"/>
              <a:t>גישה ל ai  מסונן</a:t>
            </a:r>
            <a:endParaRPr/>
          </a:p>
          <a:p>
            <a:pPr indent="0" lvl="0" marL="457200" rtl="1" algn="r">
              <a:spcBef>
                <a:spcPts val="400"/>
              </a:spcBef>
              <a:spcAft>
                <a:spcPts val="0"/>
              </a:spcAft>
              <a:buNone/>
            </a:pPr>
            <a:r>
              <a:t/>
            </a:r>
            <a:endParaRPr/>
          </a:p>
          <a:p>
            <a:pPr indent="0" lvl="0" marL="457200" rtl="1" algn="r">
              <a:spcBef>
                <a:spcPts val="400"/>
              </a:spcBef>
              <a:spcAft>
                <a:spcPts val="0"/>
              </a:spcAft>
              <a:buNone/>
            </a:pPr>
            <a:r>
              <a:t/>
            </a:r>
            <a:endParaRPr/>
          </a:p>
          <a:p>
            <a:pPr indent="0" lvl="0" marL="0" rtl="1" algn="r">
              <a:spcBef>
                <a:spcPts val="400"/>
              </a:spcBef>
              <a:spcAft>
                <a:spcPts val="40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7"/>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t>חובות לימודיים</a:t>
            </a:r>
            <a:endParaRPr/>
          </a:p>
        </p:txBody>
      </p:sp>
      <p:sp>
        <p:nvSpPr>
          <p:cNvPr id="153" name="Google Shape;153;p17"/>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311150" lvl="0" marL="457200" rtl="1" algn="r">
              <a:spcBef>
                <a:spcPts val="0"/>
              </a:spcBef>
              <a:spcAft>
                <a:spcPts val="0"/>
              </a:spcAft>
              <a:buSzPts val="1300"/>
              <a:buChar char="-"/>
            </a:pPr>
            <a:r>
              <a:rPr lang="iw"/>
              <a:t>הגשת מטלה על כל שיעור</a:t>
            </a:r>
            <a:endParaRPr/>
          </a:p>
          <a:p>
            <a:pPr indent="-311150" lvl="0" marL="457200" rtl="1" algn="r">
              <a:spcBef>
                <a:spcPts val="400"/>
              </a:spcBef>
              <a:spcAft>
                <a:spcPts val="0"/>
              </a:spcAft>
              <a:buSzPts val="1300"/>
              <a:buChar char="-"/>
            </a:pPr>
            <a:r>
              <a:rPr lang="iw"/>
              <a:t>מענה לשאלות סיכום בסוף כל שיעור</a:t>
            </a:r>
            <a:endParaRPr/>
          </a:p>
          <a:p>
            <a:pPr indent="-311150" lvl="0" marL="457200" rtl="1" algn="r">
              <a:spcBef>
                <a:spcPts val="400"/>
              </a:spcBef>
              <a:spcAft>
                <a:spcPts val="0"/>
              </a:spcAft>
              <a:buSzPts val="1300"/>
              <a:buChar char="-"/>
            </a:pPr>
            <a:r>
              <a:rPr lang="iw"/>
              <a:t>עדכון המטלה בגיט</a:t>
            </a:r>
            <a:endParaRPr/>
          </a:p>
          <a:p>
            <a:pPr indent="-311150" lvl="0" marL="457200" rtl="1" algn="r">
              <a:spcBef>
                <a:spcPts val="400"/>
              </a:spcBef>
              <a:spcAft>
                <a:spcPts val="0"/>
              </a:spcAft>
              <a:buSzPts val="1300"/>
              <a:buChar char="-"/>
            </a:pPr>
            <a:r>
              <a:rPr lang="iw"/>
              <a:t>פרויקט סיכום בסיום הקורס - מבוסס על שיעורי הבית</a:t>
            </a:r>
            <a:endParaRPr/>
          </a:p>
          <a:p>
            <a:pPr indent="0" lvl="0" marL="0" rtl="1" algn="r">
              <a:spcBef>
                <a:spcPts val="400"/>
              </a:spcBef>
              <a:spcAft>
                <a:spcPts val="400"/>
              </a:spcAft>
              <a:buNone/>
            </a:pPr>
            <a:r>
              <a:rPr lang="iw"/>
              <a:t>היות והציון מתבסס על ההגשה, יש להגיש בכל מקרה גם אם התרגיל אינו מושלם.</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8"/>
          <p:cNvSpPr txBox="1"/>
          <p:nvPr>
            <p:ph type="ctrTitle"/>
          </p:nvPr>
        </p:nvSpPr>
        <p:spPr>
          <a:xfrm>
            <a:off x="1858703" y="1822833"/>
            <a:ext cx="5361300" cy="1448100"/>
          </a:xfrm>
          <a:prstGeom prst="rect">
            <a:avLst/>
          </a:prstGeom>
        </p:spPr>
        <p:txBody>
          <a:bodyPr anchorCtr="0" anchor="ctr" bIns="91425" lIns="91425" spcFirstLastPara="1" rIns="91425" wrap="square" tIns="91425">
            <a:normAutofit/>
          </a:bodyPr>
          <a:lstStyle/>
          <a:p>
            <a:pPr indent="0" lvl="0" marL="0" rtl="1" algn="ctr">
              <a:spcBef>
                <a:spcPts val="0"/>
              </a:spcBef>
              <a:spcAft>
                <a:spcPts val="0"/>
              </a:spcAft>
              <a:buNone/>
            </a:pPr>
            <a:r>
              <a:rPr lang="iw"/>
              <a:t>שיעור 1</a:t>
            </a:r>
            <a:endParaRPr/>
          </a:p>
        </p:txBody>
      </p:sp>
      <p:sp>
        <p:nvSpPr>
          <p:cNvPr id="159" name="Google Shape;159;p18"/>
          <p:cNvSpPr txBox="1"/>
          <p:nvPr>
            <p:ph idx="1" type="subTitle"/>
          </p:nvPr>
        </p:nvSpPr>
        <p:spPr>
          <a:xfrm>
            <a:off x="1858700" y="3413158"/>
            <a:ext cx="5361300" cy="522600"/>
          </a:xfrm>
          <a:prstGeom prst="rect">
            <a:avLst/>
          </a:prstGeom>
        </p:spPr>
        <p:txBody>
          <a:bodyPr anchorCtr="0" anchor="t" bIns="91425" lIns="91425" spcFirstLastPara="1" rIns="91425" wrap="square" tIns="91425">
            <a:normAutofit fontScale="85000" lnSpcReduction="20000"/>
          </a:bodyPr>
          <a:lstStyle/>
          <a:p>
            <a:pPr indent="0" lvl="0" marL="0" rtl="1" algn="ctr">
              <a:spcBef>
                <a:spcPts val="0"/>
              </a:spcBef>
              <a:spcAft>
                <a:spcPts val="0"/>
              </a:spcAft>
              <a:buNone/>
            </a:pPr>
            <a:r>
              <a:rPr lang="iw"/>
              <a:t>התקנות והרצת שרת בסיסי</a:t>
            </a:r>
            <a:endParaRPr/>
          </a:p>
          <a:p>
            <a:pPr indent="0" lvl="0" marL="0" rtl="1" algn="ctr">
              <a:spcBef>
                <a:spcPts val="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19"/>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t>נושאי השיעור</a:t>
            </a:r>
            <a:endParaRPr/>
          </a:p>
        </p:txBody>
      </p:sp>
      <p:sp>
        <p:nvSpPr>
          <p:cNvPr id="165" name="Google Shape;165;p19"/>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311150" lvl="0" marL="457200" rtl="1" algn="r">
              <a:spcBef>
                <a:spcPts val="0"/>
              </a:spcBef>
              <a:spcAft>
                <a:spcPts val="0"/>
              </a:spcAft>
              <a:buSzPts val="1300"/>
              <a:buChar char="-"/>
            </a:pPr>
            <a:r>
              <a:rPr lang="iw"/>
              <a:t>התקנת nodejs</a:t>
            </a:r>
            <a:endParaRPr/>
          </a:p>
          <a:p>
            <a:pPr indent="-311150" lvl="0" marL="457200" rtl="1" algn="r">
              <a:spcBef>
                <a:spcPts val="0"/>
              </a:spcBef>
              <a:spcAft>
                <a:spcPts val="0"/>
              </a:spcAft>
              <a:buSzPts val="1300"/>
              <a:buChar char="-"/>
            </a:pPr>
            <a:r>
              <a:rPr lang="iw"/>
              <a:t>מה זה nodejs</a:t>
            </a:r>
            <a:endParaRPr/>
          </a:p>
          <a:p>
            <a:pPr indent="-311150" lvl="0" marL="457200" rtl="1" algn="r">
              <a:spcBef>
                <a:spcPts val="0"/>
              </a:spcBef>
              <a:spcAft>
                <a:spcPts val="0"/>
              </a:spcAft>
              <a:buSzPts val="1300"/>
              <a:buChar char="-"/>
            </a:pPr>
            <a:r>
              <a:rPr lang="iw"/>
              <a:t>הרצה על המחשב</a:t>
            </a:r>
            <a:endParaRPr/>
          </a:p>
          <a:p>
            <a:pPr indent="-311150" lvl="0" marL="457200" rtl="1" algn="r">
              <a:spcBef>
                <a:spcPts val="0"/>
              </a:spcBef>
              <a:spcAft>
                <a:spcPts val="0"/>
              </a:spcAft>
              <a:buSzPts val="1300"/>
              <a:buChar char="-"/>
            </a:pPr>
            <a:r>
              <a:rPr lang="iw"/>
              <a:t>הכרות עם npm והתקנת ספריה</a:t>
            </a:r>
            <a:endParaRPr/>
          </a:p>
          <a:p>
            <a:pPr indent="-311150" lvl="0" marL="457200" rtl="1" algn="r">
              <a:spcBef>
                <a:spcPts val="0"/>
              </a:spcBef>
              <a:spcAft>
                <a:spcPts val="0"/>
              </a:spcAft>
              <a:buSzPts val="1300"/>
              <a:buChar char="-"/>
            </a:pPr>
            <a:r>
              <a:rPr lang="iw"/>
              <a:t>הרצת שרת בסיסי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0"/>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t>התקנת node.js</a:t>
            </a:r>
            <a:endParaRPr/>
          </a:p>
        </p:txBody>
      </p:sp>
      <p:pic>
        <p:nvPicPr>
          <p:cNvPr id="171" name="Google Shape;171;p20">
            <a:hlinkClick r:id="rId3"/>
          </p:cNvPr>
          <p:cNvPicPr preferRelativeResize="0"/>
          <p:nvPr/>
        </p:nvPicPr>
        <p:blipFill>
          <a:blip r:embed="rId4">
            <a:alphaModFix/>
          </a:blip>
          <a:stretch>
            <a:fillRect/>
          </a:stretch>
        </p:blipFill>
        <p:spPr>
          <a:xfrm>
            <a:off x="2571750" y="3311875"/>
            <a:ext cx="5753100" cy="1352550"/>
          </a:xfrm>
          <a:prstGeom prst="rect">
            <a:avLst/>
          </a:prstGeom>
          <a:noFill/>
          <a:ln>
            <a:noFill/>
          </a:ln>
        </p:spPr>
      </p:pic>
      <p:sp>
        <p:nvSpPr>
          <p:cNvPr id="172" name="Google Shape;172;p20"/>
          <p:cNvSpPr txBox="1"/>
          <p:nvPr/>
        </p:nvSpPr>
        <p:spPr>
          <a:xfrm>
            <a:off x="1911750" y="1374475"/>
            <a:ext cx="6413100" cy="1937400"/>
          </a:xfrm>
          <a:prstGeom prst="rect">
            <a:avLst/>
          </a:prstGeom>
          <a:noFill/>
          <a:ln>
            <a:noFill/>
          </a:ln>
        </p:spPr>
        <p:txBody>
          <a:bodyPr anchorCtr="0" anchor="t" bIns="91425" lIns="91425" spcFirstLastPara="1" rIns="91425" wrap="square" tIns="91425">
            <a:noAutofit/>
          </a:bodyPr>
          <a:lstStyle/>
          <a:p>
            <a:pPr indent="0" lvl="0" marL="0" rtl="1" algn="r">
              <a:spcBef>
                <a:spcPts val="0"/>
              </a:spcBef>
              <a:spcAft>
                <a:spcPts val="0"/>
              </a:spcAft>
              <a:buNone/>
            </a:pPr>
            <a:r>
              <a:rPr lang="iw" sz="1300">
                <a:solidFill>
                  <a:schemeClr val="dk2"/>
                </a:solidFill>
                <a:latin typeface="Calibri"/>
                <a:ea typeface="Calibri"/>
                <a:cs typeface="Calibri"/>
                <a:sym typeface="Calibri"/>
              </a:rPr>
              <a:t>התקנת node.js על המחשב הינה התקנה פשוטה.</a:t>
            </a:r>
            <a:endParaRPr sz="1300">
              <a:solidFill>
                <a:schemeClr val="dk2"/>
              </a:solidFill>
              <a:latin typeface="Calibri"/>
              <a:ea typeface="Calibri"/>
              <a:cs typeface="Calibri"/>
              <a:sym typeface="Calibri"/>
            </a:endParaRPr>
          </a:p>
          <a:p>
            <a:pPr indent="0" lvl="0" marL="0" rtl="1" algn="r">
              <a:spcBef>
                <a:spcPts val="0"/>
              </a:spcBef>
              <a:spcAft>
                <a:spcPts val="0"/>
              </a:spcAft>
              <a:buNone/>
            </a:pPr>
            <a:r>
              <a:rPr lang="iw" sz="1300">
                <a:solidFill>
                  <a:schemeClr val="dk2"/>
                </a:solidFill>
                <a:latin typeface="Calibri"/>
                <a:ea typeface="Calibri"/>
                <a:cs typeface="Calibri"/>
                <a:sym typeface="Calibri"/>
              </a:rPr>
              <a:t>בדף הבית הראשי של שפת node.js יש אפשרות הורדה לקובץ ההתקנה.</a:t>
            </a:r>
            <a:endParaRPr sz="1300">
              <a:solidFill>
                <a:schemeClr val="dk2"/>
              </a:solidFill>
              <a:latin typeface="Calibri"/>
              <a:ea typeface="Calibri"/>
              <a:cs typeface="Calibri"/>
              <a:sym typeface="Calibri"/>
            </a:endParaRPr>
          </a:p>
          <a:p>
            <a:pPr indent="0" lvl="0" marL="0" rtl="1" algn="r">
              <a:spcBef>
                <a:spcPts val="0"/>
              </a:spcBef>
              <a:spcAft>
                <a:spcPts val="0"/>
              </a:spcAft>
              <a:buNone/>
            </a:pPr>
            <a:r>
              <a:rPr lang="iw" sz="1300">
                <a:solidFill>
                  <a:schemeClr val="dk2"/>
                </a:solidFill>
                <a:latin typeface="Calibri"/>
                <a:ea typeface="Calibri"/>
                <a:cs typeface="Calibri"/>
                <a:sym typeface="Calibri"/>
              </a:rPr>
              <a:t>יש להוריד את הקובץ ולהריץ אותו על המחשב.</a:t>
            </a:r>
            <a:endParaRPr sz="1300">
              <a:solidFill>
                <a:schemeClr val="dk2"/>
              </a:solidFill>
              <a:latin typeface="Calibri"/>
              <a:ea typeface="Calibri"/>
              <a:cs typeface="Calibri"/>
              <a:sym typeface="Calibri"/>
            </a:endParaRPr>
          </a:p>
          <a:p>
            <a:pPr indent="0" lvl="0" marL="0" rtl="1" algn="r">
              <a:spcBef>
                <a:spcPts val="0"/>
              </a:spcBef>
              <a:spcAft>
                <a:spcPts val="0"/>
              </a:spcAft>
              <a:buNone/>
            </a:pPr>
            <a:r>
              <a:rPr lang="iw" sz="1300">
                <a:solidFill>
                  <a:schemeClr val="dk2"/>
                </a:solidFill>
                <a:latin typeface="Calibri"/>
                <a:ea typeface="Calibri"/>
                <a:cs typeface="Calibri"/>
                <a:sym typeface="Calibri"/>
              </a:rPr>
              <a:t>אשף ההתקנה הינו פשוט: יש לאשר שלב אחרי שלב ולבסוף ההתקנה.</a:t>
            </a:r>
            <a:endParaRPr sz="1300">
              <a:solidFill>
                <a:schemeClr val="dk2"/>
              </a:solidFill>
              <a:latin typeface="Calibri"/>
              <a:ea typeface="Calibri"/>
              <a:cs typeface="Calibri"/>
              <a:sym typeface="Calibri"/>
            </a:endParaRPr>
          </a:p>
          <a:p>
            <a:pPr indent="0" lvl="0" marL="0" rtl="1" algn="r">
              <a:spcBef>
                <a:spcPts val="0"/>
              </a:spcBef>
              <a:spcAft>
                <a:spcPts val="0"/>
              </a:spcAft>
              <a:buNone/>
            </a:pPr>
            <a:r>
              <a:rPr lang="iw" sz="1300">
                <a:solidFill>
                  <a:schemeClr val="dk2"/>
                </a:solidFill>
                <a:latin typeface="Calibri"/>
                <a:ea typeface="Calibri"/>
                <a:cs typeface="Calibri"/>
                <a:sym typeface="Calibri"/>
              </a:rPr>
              <a:t>אם node.js כבר מותקן קודם על המחשב, בד"כ תוצג קודם שאלה האם מעונינים בהתקנה מחודשת.</a:t>
            </a:r>
            <a:endParaRPr sz="1300">
              <a:solidFill>
                <a:schemeClr val="dk2"/>
              </a:solidFill>
              <a:latin typeface="Calibri"/>
              <a:ea typeface="Calibri"/>
              <a:cs typeface="Calibri"/>
              <a:sym typeface="Calibri"/>
            </a:endParaRPr>
          </a:p>
          <a:p>
            <a:pPr indent="0" lvl="0" marL="0" rtl="1" algn="r">
              <a:spcBef>
                <a:spcPts val="0"/>
              </a:spcBef>
              <a:spcAft>
                <a:spcPts val="0"/>
              </a:spcAft>
              <a:buNone/>
            </a:pPr>
            <a:r>
              <a:t/>
            </a:r>
            <a:endParaRPr sz="1300">
              <a:solidFill>
                <a:schemeClr val="dk2"/>
              </a:solidFill>
              <a:latin typeface="Calibri"/>
              <a:ea typeface="Calibri"/>
              <a:cs typeface="Calibri"/>
              <a:sym typeface="Calibri"/>
            </a:endParaRPr>
          </a:p>
          <a:p>
            <a:pPr indent="0" lvl="0" marL="0" rtl="1" algn="r">
              <a:spcBef>
                <a:spcPts val="0"/>
              </a:spcBef>
              <a:spcAft>
                <a:spcPts val="0"/>
              </a:spcAft>
              <a:buNone/>
            </a:pPr>
            <a:r>
              <a:rPr lang="iw" sz="1300">
                <a:solidFill>
                  <a:schemeClr val="dk2"/>
                </a:solidFill>
                <a:latin typeface="Calibri"/>
                <a:ea typeface="Calibri"/>
                <a:cs typeface="Calibri"/>
                <a:sym typeface="Calibri"/>
              </a:rPr>
              <a:t>← אף אם node.js מותקן, מומלץ להתקין שוב כדי לקבל את הגרסה העדכנית.</a:t>
            </a:r>
            <a:endParaRPr sz="1300">
              <a:solidFill>
                <a:schemeClr val="dk2"/>
              </a:solidFill>
              <a:latin typeface="Calibri"/>
              <a:ea typeface="Calibri"/>
              <a:cs typeface="Calibri"/>
              <a:sym typeface="Calibri"/>
            </a:endParaRPr>
          </a:p>
          <a:p>
            <a:pPr indent="0" lvl="0" marL="0" rtl="1" algn="r">
              <a:spcBef>
                <a:spcPts val="0"/>
              </a:spcBef>
              <a:spcAft>
                <a:spcPts val="0"/>
              </a:spcAft>
              <a:buNone/>
            </a:pPr>
            <a:r>
              <a:rPr lang="iw" sz="1300">
                <a:solidFill>
                  <a:schemeClr val="dk2"/>
                </a:solidFill>
                <a:latin typeface="Calibri"/>
                <a:ea typeface="Calibri"/>
                <a:cs typeface="Calibri"/>
                <a:sym typeface="Calibri"/>
              </a:rPr>
              <a:t>← אם אין רשת, ניתן להוריד את קובץ ההתקנה במחשב אחר שמחובר, ולהעביר את קובץ ההתקנה למחשב שאינו מחובר ולהשתמש בו להתקנה.</a:t>
            </a:r>
            <a:r>
              <a:rPr lang="iw" sz="1300">
                <a:solidFill>
                  <a:schemeClr val="dk2"/>
                </a:solidFill>
                <a:latin typeface="Calibri"/>
                <a:ea typeface="Calibri"/>
                <a:cs typeface="Calibri"/>
                <a:sym typeface="Calibri"/>
              </a:rPr>
              <a:t> </a:t>
            </a:r>
            <a:endParaRPr sz="1300">
              <a:solidFill>
                <a:schemeClr val="dk2"/>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1"/>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t>מה זה שפת NodeJs?</a:t>
            </a:r>
            <a:endParaRPr/>
          </a:p>
        </p:txBody>
      </p:sp>
      <p:sp>
        <p:nvSpPr>
          <p:cNvPr id="178" name="Google Shape;178;p21"/>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t>שפת nodejs מאפשרת הרצה של קוד js בסביבת שרת - ולא בתוך הדפדפן.</a:t>
            </a:r>
            <a:endParaRPr/>
          </a:p>
          <a:p>
            <a:pPr indent="0" lvl="0" marL="0" rtl="1" algn="r">
              <a:spcBef>
                <a:spcPts val="400"/>
              </a:spcBef>
              <a:spcAft>
                <a:spcPts val="0"/>
              </a:spcAft>
              <a:buNone/>
            </a:pPr>
            <a:r>
              <a:rPr lang="iw"/>
              <a:t>למעשה nodejs זה סביבת הרצה, ולא שפה.</a:t>
            </a:r>
            <a:endParaRPr/>
          </a:p>
          <a:p>
            <a:pPr indent="0" lvl="0" marL="0" rtl="1" algn="r">
              <a:spcBef>
                <a:spcPts val="400"/>
              </a:spcBef>
              <a:spcAft>
                <a:spcPts val="0"/>
              </a:spcAft>
              <a:buNone/>
            </a:pPr>
            <a:r>
              <a:t/>
            </a:r>
            <a:endParaRPr/>
          </a:p>
          <a:p>
            <a:pPr indent="0" lvl="0" marL="0" rtl="1" algn="r">
              <a:spcBef>
                <a:spcPts val="400"/>
              </a:spcBef>
              <a:spcAft>
                <a:spcPts val="0"/>
              </a:spcAft>
              <a:buNone/>
            </a:pPr>
            <a:r>
              <a:rPr b="1" lang="iw"/>
              <a:t>דוגמאות לפרומפטים מומלצים:</a:t>
            </a:r>
            <a:endParaRPr b="1"/>
          </a:p>
          <a:p>
            <a:pPr indent="0" lvl="0" marL="0" rtl="1" algn="r">
              <a:spcBef>
                <a:spcPts val="400"/>
              </a:spcBef>
              <a:spcAft>
                <a:spcPts val="0"/>
              </a:spcAft>
              <a:buNone/>
            </a:pPr>
            <a:r>
              <a:rPr lang="iw"/>
              <a:t>Explain Node.js to a frontend developer.</a:t>
            </a:r>
            <a:endParaRPr/>
          </a:p>
          <a:p>
            <a:pPr indent="0" lvl="0" marL="0" rtl="1" algn="r">
              <a:spcBef>
                <a:spcPts val="400"/>
              </a:spcBef>
              <a:spcAft>
                <a:spcPts val="400"/>
              </a:spcAft>
              <a:buNone/>
            </a:pPr>
            <a:r>
              <a:rPr lang="iw"/>
              <a:t>C</a:t>
            </a:r>
            <a:r>
              <a:rPr lang="iw"/>
              <a:t>ompare browser JavaScript and Node.js.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2"/>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t>איך נריץ קוד בסיסי ב nodejs?</a:t>
            </a:r>
            <a:endParaRPr/>
          </a:p>
        </p:txBody>
      </p:sp>
      <p:sp>
        <p:nvSpPr>
          <p:cNvPr id="184" name="Google Shape;184;p22"/>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t>יש ליצור קובץ js פשוט בתוך תיקיה, וולהריץ אותו דרך שורת פקודה.</a:t>
            </a:r>
            <a:endParaRPr/>
          </a:p>
          <a:p>
            <a:pPr indent="0" lvl="0" marL="0" rtl="1" algn="r">
              <a:spcBef>
                <a:spcPts val="400"/>
              </a:spcBef>
              <a:spcAft>
                <a:spcPts val="0"/>
              </a:spcAft>
              <a:buNone/>
            </a:pPr>
            <a:r>
              <a:t/>
            </a:r>
            <a:endParaRPr/>
          </a:p>
          <a:p>
            <a:pPr indent="0" lvl="0" marL="0" rtl="1" algn="r">
              <a:spcBef>
                <a:spcPts val="400"/>
              </a:spcBef>
              <a:spcAft>
                <a:spcPts val="0"/>
              </a:spcAft>
              <a:buNone/>
            </a:pPr>
            <a:r>
              <a:rPr b="1" lang="iw"/>
              <a:t>דוגמאות לפרומפטים מומלצים:</a:t>
            </a:r>
            <a:endParaRPr b="1"/>
          </a:p>
          <a:p>
            <a:pPr indent="0" lvl="0" marL="0" rtl="0" algn="l">
              <a:spcBef>
                <a:spcPts val="400"/>
              </a:spcBef>
              <a:spcAft>
                <a:spcPts val="0"/>
              </a:spcAft>
              <a:buNone/>
            </a:pPr>
            <a:r>
              <a:rPr lang="iw"/>
              <a:t>How to run simple node script ?</a:t>
            </a:r>
            <a:endParaRPr/>
          </a:p>
          <a:p>
            <a:pPr indent="0" lvl="0" marL="0" rtl="0" algn="l">
              <a:spcBef>
                <a:spcPts val="400"/>
              </a:spcBef>
              <a:spcAft>
                <a:spcPts val="0"/>
              </a:spcAft>
              <a:buNone/>
            </a:pPr>
            <a:r>
              <a:t/>
            </a:r>
            <a:endParaRPr/>
          </a:p>
          <a:p>
            <a:pPr indent="0" lvl="0" marL="0" rtl="0" algn="l">
              <a:spcBef>
                <a:spcPts val="400"/>
              </a:spcBef>
              <a:spcAft>
                <a:spcPts val="400"/>
              </a:spcAft>
              <a:buNone/>
            </a:pPr>
            <a:r>
              <a:rPr lang="iw"/>
              <a:t>generate simple code example to run node script, and explain how to run it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23"/>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t>שימוש ב npm </a:t>
            </a:r>
            <a:endParaRPr/>
          </a:p>
        </p:txBody>
      </p:sp>
      <p:sp>
        <p:nvSpPr>
          <p:cNvPr id="190" name="Google Shape;190;p23"/>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t>npm - מנהל החבילות של nodejs. דרכו נתקין ספריות בתוך פרויקטים של node, ואיתו ננהל את הפרויקט שלנו - נקבע אילו ספריות מותקנות בפרויקט, ועוד.</a:t>
            </a:r>
            <a:endParaRPr/>
          </a:p>
          <a:p>
            <a:pPr indent="0" lvl="0" marL="0" rtl="1" algn="r">
              <a:spcBef>
                <a:spcPts val="400"/>
              </a:spcBef>
              <a:spcAft>
                <a:spcPts val="0"/>
              </a:spcAft>
              <a:buNone/>
            </a:pPr>
            <a:r>
              <a:t/>
            </a:r>
            <a:endParaRPr/>
          </a:p>
          <a:p>
            <a:pPr indent="0" lvl="0" marL="0" rtl="1" algn="r">
              <a:spcBef>
                <a:spcPts val="400"/>
              </a:spcBef>
              <a:spcAft>
                <a:spcPts val="0"/>
              </a:spcAft>
              <a:buNone/>
            </a:pPr>
            <a:r>
              <a:rPr b="1" lang="iw"/>
              <a:t>דוגמאות לפרומפטים מומלצים:</a:t>
            </a:r>
            <a:endParaRPr b="1"/>
          </a:p>
          <a:p>
            <a:pPr indent="0" lvl="0" marL="0" rtl="0" algn="l">
              <a:spcBef>
                <a:spcPts val="400"/>
              </a:spcBef>
              <a:spcAft>
                <a:spcPts val="0"/>
              </a:spcAft>
              <a:buNone/>
            </a:pPr>
            <a:r>
              <a:rPr lang="iw"/>
              <a:t>what is npm? </a:t>
            </a:r>
            <a:endParaRPr/>
          </a:p>
          <a:p>
            <a:pPr indent="0" lvl="0" marL="0" rtl="0" algn="l">
              <a:lnSpc>
                <a:spcPct val="115000"/>
              </a:lnSpc>
              <a:spcBef>
                <a:spcPts val="400"/>
              </a:spcBef>
              <a:spcAft>
                <a:spcPts val="0"/>
              </a:spcAft>
              <a:buNone/>
            </a:pPr>
            <a:r>
              <a:rPr lang="iw"/>
              <a:t>Why do Node projects have package.json?</a:t>
            </a:r>
            <a:endParaRPr/>
          </a:p>
          <a:p>
            <a:pPr indent="0" lvl="0" marL="0" rtl="0" algn="l">
              <a:spcBef>
                <a:spcPts val="0"/>
              </a:spcBef>
              <a:spcAft>
                <a:spcPts val="0"/>
              </a:spcAft>
              <a:buNone/>
            </a:pPr>
            <a:r>
              <a:rPr lang="iw"/>
              <a:t>Show me how to install an npm package.</a:t>
            </a:r>
            <a:endParaRPr/>
          </a:p>
          <a:p>
            <a:pPr indent="0" lvl="0" marL="0" rtl="0" algn="l">
              <a:spcBef>
                <a:spcPts val="400"/>
              </a:spcBef>
              <a:spcAft>
                <a:spcPts val="0"/>
              </a:spcAft>
              <a:buNone/>
            </a:pPr>
            <a:r>
              <a:rPr lang="iw"/>
              <a:t>Explain npm init step by step.</a:t>
            </a:r>
            <a:endParaRPr/>
          </a:p>
          <a:p>
            <a:pPr indent="0" lvl="0" marL="0" rtl="0" algn="l">
              <a:spcBef>
                <a:spcPts val="400"/>
              </a:spcBef>
              <a:spcAft>
                <a:spcPts val="400"/>
              </a:spcAft>
              <a:buNone/>
            </a:pPr>
            <a:r>
              <a:rPr lang="iw"/>
              <a:t>what should I check when I install package from npm?</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2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t>הרצת צד שרת בסיסי</a:t>
            </a:r>
            <a:endParaRPr/>
          </a:p>
        </p:txBody>
      </p:sp>
      <p:sp>
        <p:nvSpPr>
          <p:cNvPr id="196" name="Google Shape;196;p24"/>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t>הרצת שרת בסיסי ב node זו משימה די פשוטה, היות ו nodejs כולל את המודולים הבסיסיים בשביל להריץ צד שרת.</a:t>
            </a:r>
            <a:endParaRPr/>
          </a:p>
          <a:p>
            <a:pPr indent="0" lvl="0" marL="0" rtl="1" algn="r">
              <a:spcBef>
                <a:spcPts val="400"/>
              </a:spcBef>
              <a:spcAft>
                <a:spcPts val="0"/>
              </a:spcAft>
              <a:buNone/>
            </a:pPr>
            <a:r>
              <a:t/>
            </a:r>
            <a:endParaRPr/>
          </a:p>
          <a:p>
            <a:pPr indent="0" lvl="0" marL="0" rtl="1" algn="r">
              <a:spcBef>
                <a:spcPts val="400"/>
              </a:spcBef>
              <a:spcAft>
                <a:spcPts val="0"/>
              </a:spcAft>
              <a:buNone/>
            </a:pPr>
            <a:r>
              <a:rPr b="1" lang="iw"/>
              <a:t>דוגמאות לפרומפטים מומלצים:</a:t>
            </a:r>
            <a:endParaRPr b="1"/>
          </a:p>
          <a:p>
            <a:pPr indent="0" lvl="0" marL="0" rtl="0" algn="l">
              <a:spcBef>
                <a:spcPts val="400"/>
              </a:spcBef>
              <a:spcAft>
                <a:spcPts val="0"/>
              </a:spcAft>
              <a:buNone/>
            </a:pPr>
            <a:r>
              <a:rPr lang="iw"/>
              <a:t>Give me a simple HTTP server example.</a:t>
            </a:r>
            <a:endParaRPr/>
          </a:p>
          <a:p>
            <a:pPr indent="0" lvl="0" marL="0" rtl="0" algn="l">
              <a:spcBef>
                <a:spcPts val="400"/>
              </a:spcBef>
              <a:spcAft>
                <a:spcPts val="0"/>
              </a:spcAft>
              <a:buNone/>
            </a:pPr>
            <a:r>
              <a:rPr lang="iw"/>
              <a:t>Explain every line. </a:t>
            </a:r>
            <a:endParaRPr/>
          </a:p>
          <a:p>
            <a:pPr indent="0" lvl="0" marL="0" rtl="0" algn="l">
              <a:spcBef>
                <a:spcPts val="400"/>
              </a:spcBef>
              <a:spcAft>
                <a:spcPts val="0"/>
              </a:spcAft>
              <a:buNone/>
            </a:pPr>
            <a:r>
              <a:t/>
            </a:r>
            <a:endParaRPr/>
          </a:p>
          <a:p>
            <a:pPr indent="0" lvl="0" marL="0" rtl="0" algn="l">
              <a:spcBef>
                <a:spcPts val="400"/>
              </a:spcBef>
              <a:spcAft>
                <a:spcPts val="0"/>
              </a:spcAft>
              <a:buNone/>
            </a:pPr>
            <a:r>
              <a:rPr lang="iw"/>
              <a:t>What happens when I open localhost:3000 in the browser? </a:t>
            </a:r>
            <a:endParaRPr/>
          </a:p>
          <a:p>
            <a:pPr indent="0" lvl="0" marL="0" rtl="0" algn="l">
              <a:spcBef>
                <a:spcPts val="400"/>
              </a:spcBef>
              <a:spcAft>
                <a:spcPts val="40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25"/>
          <p:cNvSpPr txBox="1"/>
          <p:nvPr>
            <p:ph type="title"/>
          </p:nvPr>
        </p:nvSpPr>
        <p:spPr>
          <a:xfrm>
            <a:off x="819150" y="236650"/>
            <a:ext cx="7505700" cy="9546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t>משימה 🔨</a:t>
            </a:r>
            <a:endParaRPr/>
          </a:p>
        </p:txBody>
      </p:sp>
      <p:sp>
        <p:nvSpPr>
          <p:cNvPr id="202" name="Google Shape;202;p25"/>
          <p:cNvSpPr txBox="1"/>
          <p:nvPr>
            <p:ph idx="1" type="body"/>
          </p:nvPr>
        </p:nvSpPr>
        <p:spPr>
          <a:xfrm>
            <a:off x="819150" y="765550"/>
            <a:ext cx="7505700" cy="4110600"/>
          </a:xfrm>
          <a:prstGeom prst="rect">
            <a:avLst/>
          </a:prstGeom>
        </p:spPr>
        <p:txBody>
          <a:bodyPr anchorCtr="0" anchor="t" bIns="91425" lIns="91425" spcFirstLastPara="1" rIns="91425" wrap="square" tIns="91425">
            <a:normAutofit/>
          </a:bodyPr>
          <a:lstStyle/>
          <a:p>
            <a:pPr indent="-311150" lvl="0" marL="457200" rtl="1" algn="r">
              <a:spcBef>
                <a:spcPts val="0"/>
              </a:spcBef>
              <a:spcAft>
                <a:spcPts val="0"/>
              </a:spcAft>
              <a:buSzPts val="1300"/>
              <a:buAutoNum type="arabicPeriod"/>
            </a:pPr>
            <a:r>
              <a:rPr lang="iw"/>
              <a:t>יש להתקין את node.js על המחשב, על מנת לקבל את גרסת node המתקדמת.</a:t>
            </a:r>
            <a:endParaRPr/>
          </a:p>
          <a:p>
            <a:pPr indent="-311150" lvl="0" marL="457200" rtl="1" algn="r">
              <a:spcBef>
                <a:spcPts val="400"/>
              </a:spcBef>
              <a:spcAft>
                <a:spcPts val="0"/>
              </a:spcAft>
              <a:buSzPts val="1300"/>
              <a:buAutoNum type="arabicPeriod"/>
            </a:pPr>
            <a:r>
              <a:rPr lang="iw"/>
              <a:t>יש ליצור פרויקט בסיסי ב nodejs</a:t>
            </a:r>
            <a:endParaRPr/>
          </a:p>
          <a:p>
            <a:pPr indent="-311150" lvl="0" marL="457200" rtl="1" algn="r">
              <a:spcBef>
                <a:spcPts val="400"/>
              </a:spcBef>
              <a:spcAft>
                <a:spcPts val="0"/>
              </a:spcAft>
              <a:buSzPts val="1300"/>
              <a:buAutoNum type="arabicPeriod"/>
            </a:pPr>
            <a:r>
              <a:rPr lang="iw"/>
              <a:t>בפרויקט יש להתקין את ספרית chalk מ npm, יש להעזר ב ai כדי להבין עבור מה הספריה מיועדת.</a:t>
            </a:r>
            <a:endParaRPr/>
          </a:p>
          <a:p>
            <a:pPr indent="-311150" lvl="0" marL="457200" rtl="1" algn="r">
              <a:spcBef>
                <a:spcPts val="400"/>
              </a:spcBef>
              <a:spcAft>
                <a:spcPts val="0"/>
              </a:spcAft>
              <a:buSzPts val="1300"/>
              <a:buAutoNum type="arabicPeriod"/>
            </a:pPr>
            <a:r>
              <a:rPr lang="iw"/>
              <a:t>יש ליצור קובץ </a:t>
            </a:r>
            <a:r>
              <a:rPr lang="iw" u="sng">
                <a:solidFill>
                  <a:schemeClr val="hlink"/>
                </a:solidFill>
                <a:hlinkClick r:id="rId3"/>
              </a:rPr>
              <a:t>index.js</a:t>
            </a:r>
            <a:r>
              <a:rPr lang="iw"/>
              <a:t> בפרויקט, שיכול להציג צד שרת</a:t>
            </a:r>
            <a:endParaRPr/>
          </a:p>
          <a:p>
            <a:pPr indent="-311150" lvl="0" marL="457200" rtl="1" algn="r">
              <a:spcBef>
                <a:spcPts val="400"/>
              </a:spcBef>
              <a:spcAft>
                <a:spcPts val="0"/>
              </a:spcAft>
              <a:buSzPts val="1300"/>
              <a:buAutoNum type="arabicPeriod"/>
            </a:pPr>
            <a:r>
              <a:rPr lang="iw"/>
              <a:t>יש להגדיר בקובץ מערך של קורסים, עם מאפיינים מתאימים לכל קורס: מזהה קורס, שם ותאור.</a:t>
            </a:r>
            <a:endParaRPr/>
          </a:p>
          <a:p>
            <a:pPr indent="-311150" lvl="0" marL="457200" rtl="1" algn="r">
              <a:spcBef>
                <a:spcPts val="400"/>
              </a:spcBef>
              <a:spcAft>
                <a:spcPts val="400"/>
              </a:spcAft>
              <a:buSzPts val="1300"/>
              <a:buAutoNum type="arabicPeriod"/>
            </a:pPr>
            <a:r>
              <a:rPr lang="iw"/>
              <a:t>המטרה הסופית: כאשר ניכנס בדפדפן לכתובת localhost:3000</a:t>
            </a:r>
            <a:br>
              <a:rPr lang="iw"/>
            </a:br>
            <a:r>
              <a:rPr lang="iw"/>
              <a:t>נראה את רשימת הקורסים. כמו כן, כאשר נסתכל בלוגים נראה שם גם כן את רשימת הקורסים, מודפסת בצורה צבעונית.</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26"/>
          <p:cNvSpPr txBox="1"/>
          <p:nvPr>
            <p:ph type="title"/>
          </p:nvPr>
        </p:nvSpPr>
        <p:spPr>
          <a:xfrm>
            <a:off x="819150" y="845600"/>
            <a:ext cx="7505700" cy="626700"/>
          </a:xfrm>
          <a:prstGeom prst="rect">
            <a:avLst/>
          </a:prstGeom>
        </p:spPr>
        <p:txBody>
          <a:bodyPr anchorCtr="0" anchor="t" bIns="91425" lIns="91425" spcFirstLastPara="1" rIns="91425" wrap="square" tIns="91425">
            <a:normAutofit fontScale="90000"/>
          </a:bodyPr>
          <a:lstStyle/>
          <a:p>
            <a:pPr indent="0" lvl="0" marL="0" rtl="1" algn="r">
              <a:spcBef>
                <a:spcPts val="0"/>
              </a:spcBef>
              <a:spcAft>
                <a:spcPts val="0"/>
              </a:spcAft>
              <a:buNone/>
            </a:pPr>
            <a:r>
              <a:rPr lang="iw"/>
              <a:t>משימה - ביצוע 📐</a:t>
            </a:r>
            <a:endParaRPr/>
          </a:p>
        </p:txBody>
      </p:sp>
      <p:sp>
        <p:nvSpPr>
          <p:cNvPr id="208" name="Google Shape;208;p26"/>
          <p:cNvSpPr txBox="1"/>
          <p:nvPr>
            <p:ph idx="1" type="body"/>
          </p:nvPr>
        </p:nvSpPr>
        <p:spPr>
          <a:xfrm>
            <a:off x="819150" y="1515875"/>
            <a:ext cx="7505700" cy="3381900"/>
          </a:xfrm>
          <a:prstGeom prst="rect">
            <a:avLst/>
          </a:prstGeom>
        </p:spPr>
        <p:txBody>
          <a:bodyPr anchorCtr="0" anchor="t" bIns="91425" lIns="91425" spcFirstLastPara="1" rIns="91425" wrap="square" tIns="91425">
            <a:normAutofit/>
          </a:bodyPr>
          <a:lstStyle/>
          <a:p>
            <a:pPr indent="-311150" lvl="0" marL="457200" rtl="1" algn="r">
              <a:spcBef>
                <a:spcPts val="0"/>
              </a:spcBef>
              <a:spcAft>
                <a:spcPts val="0"/>
              </a:spcAft>
              <a:buSzPts val="1300"/>
              <a:buChar char="-"/>
            </a:pPr>
            <a:r>
              <a:rPr lang="iw"/>
              <a:t>יש להשתמש ב ai על מנת ללמוד, להבין וגם לבצע.</a:t>
            </a:r>
            <a:endParaRPr/>
          </a:p>
          <a:p>
            <a:pPr indent="-311150" lvl="0" marL="457200" rtl="1" algn="r">
              <a:spcBef>
                <a:spcPts val="0"/>
              </a:spcBef>
              <a:spcAft>
                <a:spcPts val="0"/>
              </a:spcAft>
              <a:buSzPts val="1300"/>
              <a:buChar char="-"/>
            </a:pPr>
            <a:r>
              <a:rPr lang="iw"/>
              <a:t>כל שורת קוד שנכתבה על ידי ה ai, חובה להבין היטב!</a:t>
            </a:r>
            <a:endParaRPr/>
          </a:p>
          <a:p>
            <a:pPr indent="-311150" lvl="0" marL="457200" rtl="1" algn="r">
              <a:spcBef>
                <a:spcPts val="0"/>
              </a:spcBef>
              <a:spcAft>
                <a:spcPts val="0"/>
              </a:spcAft>
              <a:buSzPts val="1300"/>
              <a:buChar char="-"/>
            </a:pPr>
            <a:r>
              <a:rPr lang="iw"/>
              <a:t>אחרי יצירת הפרויקט הבסיסי, יש להשתמש ב ai כדי לשפר את הקוד, על ידי שאלות בסגנון:</a:t>
            </a:r>
            <a:endParaRPr/>
          </a:p>
          <a:p>
            <a:pPr indent="-298450" lvl="1" marL="914400" rtl="1" algn="r">
              <a:spcBef>
                <a:spcPts val="0"/>
              </a:spcBef>
              <a:spcAft>
                <a:spcPts val="0"/>
              </a:spcAft>
              <a:buSzPts val="1100"/>
              <a:buChar char="-"/>
            </a:pPr>
            <a:r>
              <a:rPr lang="iw"/>
              <a:t>איזה שגיאות עשויות להיות בקוד?</a:t>
            </a:r>
            <a:endParaRPr/>
          </a:p>
          <a:p>
            <a:pPr indent="-298450" lvl="1" marL="914400" rtl="1" algn="r">
              <a:spcBef>
                <a:spcPts val="0"/>
              </a:spcBef>
              <a:spcAft>
                <a:spcPts val="0"/>
              </a:spcAft>
              <a:buSzPts val="1100"/>
              <a:buChar char="-"/>
            </a:pPr>
            <a:r>
              <a:rPr lang="iw"/>
              <a:t>איך אפשר לשפר?</a:t>
            </a:r>
            <a:endParaRPr/>
          </a:p>
          <a:p>
            <a:pPr indent="-298450" lvl="1" marL="914400" rtl="1" algn="r">
              <a:spcBef>
                <a:spcPts val="0"/>
              </a:spcBef>
              <a:spcAft>
                <a:spcPts val="0"/>
              </a:spcAft>
              <a:buSzPts val="1100"/>
              <a:buChar char="-"/>
            </a:pPr>
            <a:r>
              <a:rPr lang="iw"/>
              <a:t>הער לי הערות על מבנה הקוד?</a:t>
            </a:r>
            <a:endParaRPr/>
          </a:p>
          <a:p>
            <a:pPr indent="-311150" lvl="0" marL="457200" rtl="1" algn="r">
              <a:spcBef>
                <a:spcPts val="0"/>
              </a:spcBef>
              <a:spcAft>
                <a:spcPts val="0"/>
              </a:spcAft>
              <a:buSzPts val="1300"/>
              <a:buChar char="-"/>
            </a:pPr>
            <a:r>
              <a:rPr lang="iw"/>
              <a:t>הגשה: יש להעלות ל github את הפרויקט, וצרף אותי כשותפת עריכה בפרויקט. שם המשתמש שלי: chanakamin.</a:t>
            </a:r>
            <a:endParaRPr/>
          </a:p>
          <a:p>
            <a:pPr indent="-311150" lvl="0" marL="457200" rtl="1" algn="r">
              <a:spcBef>
                <a:spcPts val="0"/>
              </a:spcBef>
              <a:spcAft>
                <a:spcPts val="0"/>
              </a:spcAft>
              <a:buSzPts val="1300"/>
              <a:buChar char="-"/>
            </a:pPr>
            <a:r>
              <a:rPr lang="iw"/>
              <a:t>הפרויקט צריך לכלול גם קובץ txt עם פרוט של פרומפטים שונים שנשלחו ל ai ודוגמאות לתשובות.</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7"/>
          <p:cNvSpPr txBox="1"/>
          <p:nvPr>
            <p:ph type="ctrTitle"/>
          </p:nvPr>
        </p:nvSpPr>
        <p:spPr>
          <a:xfrm>
            <a:off x="1858703" y="1822833"/>
            <a:ext cx="5361300" cy="1448100"/>
          </a:xfrm>
          <a:prstGeom prst="rect">
            <a:avLst/>
          </a:prstGeom>
        </p:spPr>
        <p:txBody>
          <a:bodyPr anchorCtr="0" anchor="ctr" bIns="91425" lIns="91425" spcFirstLastPara="1" rIns="91425" wrap="square" tIns="91425">
            <a:normAutofit/>
          </a:bodyPr>
          <a:lstStyle/>
          <a:p>
            <a:pPr indent="0" lvl="0" marL="0" rtl="1" algn="ctr">
              <a:spcBef>
                <a:spcPts val="0"/>
              </a:spcBef>
              <a:spcAft>
                <a:spcPts val="0"/>
              </a:spcAft>
              <a:buNone/>
            </a:pPr>
            <a:r>
              <a:rPr lang="iw"/>
              <a:t>שיעור 2</a:t>
            </a:r>
            <a:endParaRPr/>
          </a:p>
        </p:txBody>
      </p:sp>
      <p:sp>
        <p:nvSpPr>
          <p:cNvPr id="214" name="Google Shape;214;p27"/>
          <p:cNvSpPr txBox="1"/>
          <p:nvPr>
            <p:ph idx="1" type="subTitle"/>
          </p:nvPr>
        </p:nvSpPr>
        <p:spPr>
          <a:xfrm>
            <a:off x="1858700" y="3413158"/>
            <a:ext cx="5361300" cy="522600"/>
          </a:xfrm>
          <a:prstGeom prst="rect">
            <a:avLst/>
          </a:prstGeom>
        </p:spPr>
        <p:txBody>
          <a:bodyPr anchorCtr="0" anchor="t" bIns="91425" lIns="91425" spcFirstLastPara="1" rIns="91425" wrap="square" tIns="91425">
            <a:normAutofit fontScale="85000" lnSpcReduction="20000"/>
          </a:bodyPr>
          <a:lstStyle/>
          <a:p>
            <a:pPr indent="0" lvl="0" marL="0" rtl="0" algn="ctr">
              <a:spcBef>
                <a:spcPts val="0"/>
              </a:spcBef>
              <a:spcAft>
                <a:spcPts val="0"/>
              </a:spcAft>
              <a:buNone/>
            </a:pPr>
            <a:r>
              <a:rPr lang="iw"/>
              <a:t>express &amp; basic routing</a:t>
            </a:r>
            <a:endParaRPr/>
          </a:p>
          <a:p>
            <a:pPr indent="0" lvl="0" marL="0" rtl="1" algn="ctr">
              <a:spcBef>
                <a:spcPts val="0"/>
              </a:spcBef>
              <a:spcAft>
                <a:spcPts val="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28"/>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t>תוכן השיעור</a:t>
            </a:r>
            <a:endParaRPr/>
          </a:p>
        </p:txBody>
      </p:sp>
      <p:sp>
        <p:nvSpPr>
          <p:cNvPr id="220" name="Google Shape;220;p28"/>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t>שיעור קודם למדנו הרצה בסיסית של שרת ב Nodejs.</a:t>
            </a:r>
            <a:endParaRPr/>
          </a:p>
          <a:p>
            <a:pPr indent="0" lvl="0" marL="0" rtl="1" algn="r">
              <a:spcBef>
                <a:spcPts val="400"/>
              </a:spcBef>
              <a:spcAft>
                <a:spcPts val="0"/>
              </a:spcAft>
              <a:buNone/>
            </a:pPr>
            <a:r>
              <a:rPr lang="iw"/>
              <a:t>בשיעור זה נתמקד בנושאים הבאים:</a:t>
            </a:r>
            <a:endParaRPr/>
          </a:p>
          <a:p>
            <a:pPr indent="-311150" lvl="0" marL="457200" rtl="1" algn="r">
              <a:spcBef>
                <a:spcPts val="400"/>
              </a:spcBef>
              <a:spcAft>
                <a:spcPts val="0"/>
              </a:spcAft>
              <a:buSzPts val="1300"/>
              <a:buChar char="-"/>
            </a:pPr>
            <a:r>
              <a:rPr lang="iw"/>
              <a:t>הבנת תפקידו של צד שרת</a:t>
            </a:r>
            <a:endParaRPr/>
          </a:p>
          <a:p>
            <a:pPr indent="-311150" lvl="0" marL="457200" rtl="1" algn="r">
              <a:spcBef>
                <a:spcPts val="0"/>
              </a:spcBef>
              <a:spcAft>
                <a:spcPts val="0"/>
              </a:spcAft>
              <a:buSzPts val="1300"/>
              <a:buChar char="-"/>
            </a:pPr>
            <a:r>
              <a:rPr lang="iw"/>
              <a:t>מה זה api?</a:t>
            </a:r>
            <a:endParaRPr/>
          </a:p>
          <a:p>
            <a:pPr indent="-311150" lvl="0" marL="457200" rtl="1" algn="r">
              <a:spcBef>
                <a:spcPts val="0"/>
              </a:spcBef>
              <a:spcAft>
                <a:spcPts val="0"/>
              </a:spcAft>
              <a:buSzPts val="1300"/>
              <a:buChar char="-"/>
            </a:pPr>
            <a:r>
              <a:rPr lang="iw"/>
              <a:t>מודל תקשורת בין צד שרת לצד לקוח - request response</a:t>
            </a:r>
            <a:endParaRPr/>
          </a:p>
          <a:p>
            <a:pPr indent="-311150" lvl="0" marL="457200" rtl="1" algn="r">
              <a:spcBef>
                <a:spcPts val="0"/>
              </a:spcBef>
              <a:spcAft>
                <a:spcPts val="0"/>
              </a:spcAft>
              <a:buSzPts val="1300"/>
              <a:buChar char="-"/>
            </a:pPr>
            <a:r>
              <a:rPr lang="iw"/>
              <a:t>יצירת צד שרת ב node על ידי שימוש בספריית express, שכולל מספר קריאות api שונות</a:t>
            </a:r>
            <a:endParaRPr/>
          </a:p>
          <a:p>
            <a:pPr indent="-311150" lvl="0" marL="457200" rtl="1" algn="r">
              <a:spcBef>
                <a:spcPts val="0"/>
              </a:spcBef>
              <a:spcAft>
                <a:spcPts val="0"/>
              </a:spcAft>
              <a:buSzPts val="1300"/>
              <a:buChar char="-"/>
            </a:pPr>
            <a:r>
              <a:rPr lang="iw"/>
              <a:t>ארגון צד השרת לקבצים שונים</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29"/>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latin typeface="Calibri"/>
                <a:ea typeface="Calibri"/>
                <a:cs typeface="Calibri"/>
                <a:sym typeface="Calibri"/>
              </a:rPr>
              <a:t>מפיתוח client לפיתוח server</a:t>
            </a:r>
            <a:endParaRPr>
              <a:latin typeface="Calibri"/>
              <a:ea typeface="Calibri"/>
              <a:cs typeface="Calibri"/>
              <a:sym typeface="Calibri"/>
            </a:endParaRPr>
          </a:p>
        </p:txBody>
      </p:sp>
      <p:sp>
        <p:nvSpPr>
          <p:cNvPr id="226" name="Google Shape;226;p29"/>
          <p:cNvSpPr txBox="1"/>
          <p:nvPr>
            <p:ph idx="1" type="body"/>
          </p:nvPr>
        </p:nvSpPr>
        <p:spPr>
          <a:xfrm>
            <a:off x="819150" y="1420825"/>
            <a:ext cx="7505700" cy="3364500"/>
          </a:xfrm>
          <a:prstGeom prst="rect">
            <a:avLst/>
          </a:prstGeom>
        </p:spPr>
        <p:txBody>
          <a:bodyPr anchorCtr="0" anchor="t" bIns="91425" lIns="91425" spcFirstLastPara="1" rIns="91425" wrap="square" tIns="91425">
            <a:normAutofit fontScale="92500" lnSpcReduction="20000"/>
          </a:bodyPr>
          <a:lstStyle/>
          <a:p>
            <a:pPr indent="0" lvl="0" marL="0" rtl="1" algn="r">
              <a:spcBef>
                <a:spcPts val="0"/>
              </a:spcBef>
              <a:spcAft>
                <a:spcPts val="0"/>
              </a:spcAft>
              <a:buNone/>
            </a:pPr>
            <a:r>
              <a:rPr lang="iw"/>
              <a:t>עד כה, נלמד בעיקר פיתוח צד קליינט. (שיעור web- הצגת אתר ע"י html css js) כל האפליקציה רצה רק בתוך הדפדפן.</a:t>
            </a:r>
            <a:endParaRPr/>
          </a:p>
          <a:p>
            <a:pPr indent="0" lvl="0" marL="0" rtl="1" algn="r">
              <a:spcBef>
                <a:spcPts val="400"/>
              </a:spcBef>
              <a:spcAft>
                <a:spcPts val="0"/>
              </a:spcAft>
              <a:buNone/>
            </a:pPr>
            <a:r>
              <a:rPr lang="iw"/>
              <a:t>במהלך הקורס, נבנה את החלק השני שכל אתר נצרך בשביל לרוץ - צד השרת.</a:t>
            </a:r>
            <a:endParaRPr/>
          </a:p>
          <a:p>
            <a:pPr indent="0" lvl="0" marL="0" rtl="1" algn="r">
              <a:spcBef>
                <a:spcPts val="400"/>
              </a:spcBef>
              <a:spcAft>
                <a:spcPts val="0"/>
              </a:spcAft>
              <a:buNone/>
            </a:pPr>
            <a:r>
              <a:rPr lang="iw"/>
              <a:t>צד השרת, בעיקרון, אמור להתעסק עם מידע גולמי ולוגיקה בלבד. לצד השרת אין קשר למבנה האתר, לנראות שלו.</a:t>
            </a:r>
            <a:endParaRPr/>
          </a:p>
          <a:p>
            <a:pPr indent="0" lvl="0" marL="0" rtl="1" algn="r">
              <a:spcBef>
                <a:spcPts val="400"/>
              </a:spcBef>
              <a:spcAft>
                <a:spcPts val="0"/>
              </a:spcAft>
              <a:buNone/>
            </a:pPr>
            <a:r>
              <a:rPr lang="iw"/>
              <a:t>בצד השרת לא נראה (בדרך כלל) קבצי html או css האחראיים למראה ועיצוב האתר.</a:t>
            </a:r>
            <a:endParaRPr/>
          </a:p>
          <a:p>
            <a:pPr indent="0" lvl="0" marL="0" rtl="1" algn="r">
              <a:spcBef>
                <a:spcPts val="400"/>
              </a:spcBef>
              <a:spcAft>
                <a:spcPts val="0"/>
              </a:spcAft>
              <a:buNone/>
            </a:pPr>
            <a:r>
              <a:rPr lang="iw"/>
              <a:t>מה כן?</a:t>
            </a:r>
            <a:endParaRPr/>
          </a:p>
          <a:p>
            <a:pPr indent="0" lvl="0" marL="0" rtl="1" algn="r">
              <a:spcBef>
                <a:spcPts val="400"/>
              </a:spcBef>
              <a:spcAft>
                <a:spcPts val="0"/>
              </a:spcAft>
              <a:buNone/>
            </a:pPr>
            <a:r>
              <a:rPr lang="iw"/>
              <a:t>צד השרת יושב בענן. תפקידו הוא:</a:t>
            </a:r>
            <a:endParaRPr/>
          </a:p>
          <a:p>
            <a:pPr indent="-304959" lvl="0" marL="457200" rtl="1" algn="r">
              <a:spcBef>
                <a:spcPts val="400"/>
              </a:spcBef>
              <a:spcAft>
                <a:spcPts val="0"/>
              </a:spcAft>
              <a:buSzPct val="100000"/>
              <a:buChar char="-"/>
            </a:pPr>
            <a:r>
              <a:rPr lang="iw"/>
              <a:t>לקבל קריאות מהדפדפן - צד הלקוח. (לדוגמא, בדפדפן רץ אתר של חנות בגדים. הוא ישלח קריאה לשרת לקבל את רשימת הבגדים על מנת להציג אותה באתר)</a:t>
            </a:r>
            <a:endParaRPr/>
          </a:p>
          <a:p>
            <a:pPr indent="-304959" lvl="0" marL="457200" rtl="1" algn="r">
              <a:spcBef>
                <a:spcPts val="0"/>
              </a:spcBef>
              <a:spcAft>
                <a:spcPts val="0"/>
              </a:spcAft>
              <a:buSzPct val="100000"/>
              <a:buChar char="-"/>
            </a:pPr>
            <a:r>
              <a:rPr lang="iw"/>
              <a:t>לעבד את הבקשה (בדוגמא: יפנה ל db כדי לשלוף את הרשימה המתאימה, ויכין רשימה מתאימה של בגדים)</a:t>
            </a:r>
            <a:endParaRPr/>
          </a:p>
          <a:p>
            <a:pPr indent="-304959" lvl="0" marL="457200" rtl="1" algn="r">
              <a:spcBef>
                <a:spcPts val="0"/>
              </a:spcBef>
              <a:spcAft>
                <a:spcPts val="0"/>
              </a:spcAft>
              <a:buSzPct val="100000"/>
              <a:buChar char="-"/>
            </a:pPr>
            <a:r>
              <a:rPr lang="iw"/>
              <a:t>מחזיר תשובה לדפדפן (רשימת הבגדים) התשובה תהיה תמיד בפורמט json.</a:t>
            </a:r>
            <a:endParaRPr/>
          </a:p>
          <a:p>
            <a:pPr indent="-304959" lvl="0" marL="457200" rtl="1" algn="r">
              <a:spcBef>
                <a:spcPts val="0"/>
              </a:spcBef>
              <a:spcAft>
                <a:spcPts val="0"/>
              </a:spcAft>
              <a:buSzPct val="100000"/>
              <a:buChar char="-"/>
            </a:pPr>
            <a:r>
              <a:rPr lang="iw"/>
              <a:t>הדפדפן קיבל את התשובה, והוא יבנה html מתאים בשביל להציג את רשימת הבגדים.</a:t>
            </a:r>
            <a:br>
              <a:rPr lang="iw"/>
            </a:br>
            <a:endParaRPr/>
          </a:p>
          <a:p>
            <a:pPr indent="0" lvl="0" marL="0" rtl="1" algn="r">
              <a:spcBef>
                <a:spcPts val="400"/>
              </a:spcBef>
              <a:spcAft>
                <a:spcPts val="0"/>
              </a:spcAft>
              <a:buNone/>
            </a:pPr>
            <a:r>
              <a:rPr lang="iw"/>
              <a:t>בקשי מה ai שיסביר לך על ההבדלים בין פיתוח שרת לפיתוח קליינט, עבור מתכנתת שעד כה התעסקה רק בפיתוח קליינט.</a:t>
            </a:r>
            <a:br>
              <a:rPr lang="iw"/>
            </a:br>
            <a:r>
              <a:rPr lang="iw"/>
              <a:t>דוגמא לפרומפט:</a:t>
            </a:r>
            <a:endParaRPr/>
          </a:p>
          <a:p>
            <a:pPr indent="0" lvl="0" marL="0" rtl="1" algn="r">
              <a:spcBef>
                <a:spcPts val="400"/>
              </a:spcBef>
              <a:spcAft>
                <a:spcPts val="0"/>
              </a:spcAft>
              <a:buNone/>
            </a:pPr>
            <a:r>
              <a:rPr lang="iw"/>
              <a:t>I already know JavaScript for frontend development.</a:t>
            </a:r>
            <a:endParaRPr/>
          </a:p>
          <a:p>
            <a:pPr indent="0" lvl="0" marL="0" rtl="1" algn="r">
              <a:spcBef>
                <a:spcPts val="400"/>
              </a:spcBef>
              <a:spcAft>
                <a:spcPts val="0"/>
              </a:spcAft>
              <a:buNone/>
            </a:pPr>
            <a:r>
              <a:rPr lang="iw"/>
              <a:t>Explain the difference between frontend and backend development.</a:t>
            </a:r>
            <a:endParaRPr/>
          </a:p>
          <a:p>
            <a:pPr indent="0" lvl="0" marL="0" rtl="1" algn="r">
              <a:spcBef>
                <a:spcPts val="400"/>
              </a:spcBef>
              <a:spcAft>
                <a:spcPts val="400"/>
              </a:spcAft>
              <a:buNone/>
            </a:pPr>
            <a:r>
              <a:rPr lang="iw"/>
              <a:t>Focus on the responsibility of each side rather than specific technologies.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30"/>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latin typeface="Calibri"/>
                <a:ea typeface="Calibri"/>
                <a:cs typeface="Calibri"/>
                <a:sym typeface="Calibri"/>
              </a:rPr>
              <a:t>מבנה web application - אפליקצית ווב</a:t>
            </a:r>
            <a:endParaRPr>
              <a:latin typeface="Calibri"/>
              <a:ea typeface="Calibri"/>
              <a:cs typeface="Calibri"/>
              <a:sym typeface="Calibri"/>
            </a:endParaRPr>
          </a:p>
        </p:txBody>
      </p:sp>
      <p:sp>
        <p:nvSpPr>
          <p:cNvPr id="232" name="Google Shape;232;p30"/>
          <p:cNvSpPr txBox="1"/>
          <p:nvPr>
            <p:ph idx="1" type="body"/>
          </p:nvPr>
        </p:nvSpPr>
        <p:spPr>
          <a:xfrm>
            <a:off x="819150" y="1420825"/>
            <a:ext cx="7505700" cy="33645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t>לרוב האפליקציות ברשת, (אתרים עם יכולות, לא רק אתר תדמית שמציג נתונים קבועים מראש)</a:t>
            </a:r>
            <a:endParaRPr/>
          </a:p>
          <a:p>
            <a:pPr indent="0" lvl="0" marL="0" rtl="1" algn="r">
              <a:spcBef>
                <a:spcPts val="400"/>
              </a:spcBef>
              <a:spcAft>
                <a:spcPts val="0"/>
              </a:spcAft>
              <a:buNone/>
            </a:pPr>
            <a:r>
              <a:rPr lang="iw"/>
              <a:t>יש מבנה סטנדרטי קבוע:</a:t>
            </a:r>
            <a:endParaRPr/>
          </a:p>
          <a:p>
            <a:pPr indent="-311150" lvl="0" marL="457200" rtl="1" algn="r">
              <a:spcBef>
                <a:spcPts val="400"/>
              </a:spcBef>
              <a:spcAft>
                <a:spcPts val="0"/>
              </a:spcAft>
              <a:buSzPts val="1300"/>
              <a:buChar char="-"/>
            </a:pPr>
            <a:r>
              <a:rPr lang="iw"/>
              <a:t>צד קליינט - לקוח - רץ בדפדפן. אחראי על הצגה של הנתונים על המסך, ומאפשר פעולות במסך (לדוגמא לחיצה על כפתורים וכו')</a:t>
            </a:r>
            <a:endParaRPr/>
          </a:p>
          <a:p>
            <a:pPr indent="-311150" lvl="0" marL="457200" rtl="1" algn="r">
              <a:spcBef>
                <a:spcPts val="0"/>
              </a:spcBef>
              <a:spcAft>
                <a:spcPts val="0"/>
              </a:spcAft>
              <a:buSzPts val="1300"/>
              <a:buChar char="-"/>
            </a:pPr>
            <a:r>
              <a:rPr lang="iw"/>
              <a:t>צד שרת - backend - סרבר - רץ בשרת (בענן). אחראי על ניהול המידע, ואין לו קשר לחלק התצוגה בכלל. יש לו גישה למסד הנתונים, הוא שולף משם מידע, מעדכן מידע, יכול לפנות לשרתים אחרים, ולבצע עיבודים על המידע.</a:t>
            </a:r>
            <a:endParaRPr/>
          </a:p>
          <a:p>
            <a:pPr indent="-311150" lvl="0" marL="457200" rtl="1" algn="r">
              <a:spcBef>
                <a:spcPts val="0"/>
              </a:spcBef>
              <a:spcAft>
                <a:spcPts val="0"/>
              </a:spcAft>
              <a:buSzPts val="1300"/>
              <a:buChar char="-"/>
            </a:pPr>
            <a:r>
              <a:rPr lang="iw"/>
              <a:t>תקשורת בין שני הצדדים: דרך קריאות http. צד קליינט שולח קריאת http לצד שרת, צד שרת מקבל את הקריאה, מעבד את הבקשה, ומחזיר תשובה.</a:t>
            </a:r>
            <a:endParaRPr/>
          </a:p>
          <a:p>
            <a:pPr indent="0" lvl="0" marL="0" rtl="1" algn="r">
              <a:spcBef>
                <a:spcPts val="400"/>
              </a:spcBef>
              <a:spcAft>
                <a:spcPts val="0"/>
              </a:spcAft>
              <a:buNone/>
            </a:pPr>
            <a:r>
              <a:t/>
            </a:r>
            <a:endParaRPr/>
          </a:p>
          <a:p>
            <a:pPr indent="0" lvl="0" marL="0" rtl="1" algn="r">
              <a:spcBef>
                <a:spcPts val="400"/>
              </a:spcBef>
              <a:spcAft>
                <a:spcPts val="0"/>
              </a:spcAft>
              <a:buNone/>
            </a:pPr>
            <a:r>
              <a:rPr lang="iw"/>
              <a:t>בקשי מה ai שיסביר לך יותר על מודל request response בין צד client לצד server.</a:t>
            </a:r>
            <a:endParaRPr/>
          </a:p>
          <a:p>
            <a:pPr indent="0" lvl="0" marL="0" rtl="1" algn="r">
              <a:spcBef>
                <a:spcPts val="400"/>
              </a:spcBef>
              <a:spcAft>
                <a:spcPts val="0"/>
              </a:spcAft>
              <a:buNone/>
            </a:pPr>
            <a:r>
              <a:rPr lang="iw"/>
              <a:t>פרומפט לדוגמא:</a:t>
            </a:r>
            <a:br>
              <a:rPr lang="iw"/>
            </a:br>
            <a:r>
              <a:rPr lang="iw"/>
              <a:t>Explain how a browser and a backend server communicate.</a:t>
            </a:r>
            <a:endParaRPr/>
          </a:p>
          <a:p>
            <a:pPr indent="0" lvl="0" marL="0" rtl="1" algn="r">
              <a:spcBef>
                <a:spcPts val="400"/>
              </a:spcBef>
              <a:spcAft>
                <a:spcPts val="0"/>
              </a:spcAft>
              <a:buNone/>
            </a:pPr>
            <a:r>
              <a:rPr lang="iw"/>
              <a:t>Describe the request-response cycle step by step.</a:t>
            </a:r>
            <a:endParaRPr/>
          </a:p>
          <a:p>
            <a:pPr indent="0" lvl="0" marL="0" rtl="1" algn="r">
              <a:spcBef>
                <a:spcPts val="400"/>
              </a:spcBef>
              <a:spcAft>
                <a:spcPts val="400"/>
              </a:spcAft>
              <a:buNone/>
            </a:pPr>
            <a:r>
              <a:rPr lang="iw"/>
              <a:t>Do not use code.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31"/>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latin typeface="Calibri"/>
                <a:ea typeface="Calibri"/>
                <a:cs typeface="Calibri"/>
                <a:sym typeface="Calibri"/>
              </a:rPr>
              <a:t>מה זה api?</a:t>
            </a:r>
            <a:endParaRPr>
              <a:latin typeface="Calibri"/>
              <a:ea typeface="Calibri"/>
              <a:cs typeface="Calibri"/>
              <a:sym typeface="Calibri"/>
            </a:endParaRPr>
          </a:p>
        </p:txBody>
      </p:sp>
      <p:sp>
        <p:nvSpPr>
          <p:cNvPr id="238" name="Google Shape;238;p31"/>
          <p:cNvSpPr txBox="1"/>
          <p:nvPr>
            <p:ph idx="1" type="body"/>
          </p:nvPr>
        </p:nvSpPr>
        <p:spPr>
          <a:xfrm>
            <a:off x="819150" y="1420825"/>
            <a:ext cx="7505700" cy="3364500"/>
          </a:xfrm>
          <a:prstGeom prst="rect">
            <a:avLst/>
          </a:prstGeom>
        </p:spPr>
        <p:txBody>
          <a:bodyPr anchorCtr="0" anchor="t" bIns="91425" lIns="91425" spcFirstLastPara="1" rIns="91425" wrap="square" tIns="91425">
            <a:normAutofit fontScale="92500" lnSpcReduction="20000"/>
          </a:bodyPr>
          <a:lstStyle/>
          <a:p>
            <a:pPr indent="0" lvl="0" marL="0" rtl="1" algn="r">
              <a:spcBef>
                <a:spcPts val="0"/>
              </a:spcBef>
              <a:spcAft>
                <a:spcPts val="0"/>
              </a:spcAft>
              <a:buNone/>
            </a:pPr>
            <a:r>
              <a:rPr lang="iw"/>
              <a:t>המונח api הוא אחד הבסיסיים והשימושיים יותר בפיתוח.</a:t>
            </a:r>
            <a:endParaRPr/>
          </a:p>
          <a:p>
            <a:pPr indent="0" lvl="0" marL="0" rtl="0" algn="l">
              <a:spcBef>
                <a:spcPts val="400"/>
              </a:spcBef>
              <a:spcAft>
                <a:spcPts val="0"/>
              </a:spcAft>
              <a:buNone/>
            </a:pPr>
            <a:r>
              <a:rPr lang="iw"/>
              <a:t>api (application programing interface) </a:t>
            </a:r>
            <a:endParaRPr/>
          </a:p>
          <a:p>
            <a:pPr indent="0" lvl="0" marL="0" rtl="1" algn="r">
              <a:spcBef>
                <a:spcPts val="400"/>
              </a:spcBef>
              <a:spcAft>
                <a:spcPts val="0"/>
              </a:spcAft>
              <a:buNone/>
            </a:pPr>
            <a:r>
              <a:rPr lang="iw"/>
              <a:t>הכוונה בשימוש במונח api הוא סוג של "חוזה" או "ממשק" בין שני צדדים, שמגדיר כיצד הם יכולים לתקשר בינהם.</a:t>
            </a:r>
            <a:endParaRPr/>
          </a:p>
          <a:p>
            <a:pPr indent="0" lvl="0" marL="0" rtl="1" algn="r">
              <a:spcBef>
                <a:spcPts val="400"/>
              </a:spcBef>
              <a:spcAft>
                <a:spcPts val="0"/>
              </a:spcAft>
              <a:buNone/>
            </a:pPr>
            <a:r>
              <a:rPr lang="iw"/>
              <a:t>כאשר משתמשים במונח api בהקשר של פיתוח צד שרת, הכוונה היא: כיצד ניתן לפנות לשרת? אילו קריאות הוא חושף?</a:t>
            </a:r>
            <a:br>
              <a:rPr lang="iw"/>
            </a:br>
            <a:r>
              <a:rPr lang="iw"/>
              <a:t>הרי כל התקשורת בין צד קליינט לצד לקוח היא על ידי קריאות http. לקריאות אלה מבנה קבוע.</a:t>
            </a:r>
            <a:endParaRPr/>
          </a:p>
          <a:p>
            <a:pPr indent="0" lvl="0" marL="0" rtl="1" algn="r">
              <a:spcBef>
                <a:spcPts val="400"/>
              </a:spcBef>
              <a:spcAft>
                <a:spcPts val="0"/>
              </a:spcAft>
              <a:buNone/>
            </a:pPr>
            <a:r>
              <a:rPr lang="iw"/>
              <a:t>צד ה client לא מודע באיזה שפה כתוב צד השרת, nodejs, java או אולי בכלל c#. הוא צריך לדעת דבר אחד:</a:t>
            </a:r>
            <a:br>
              <a:rPr lang="iw"/>
            </a:br>
            <a:r>
              <a:rPr lang="iw"/>
              <a:t>מה ה api שצד השרת חושף?</a:t>
            </a:r>
            <a:br>
              <a:rPr lang="iw"/>
            </a:br>
            <a:r>
              <a:rPr lang="iw"/>
              <a:t>במילים אחרות: איזה קריאות אפשר לשלוח לשרת הזה?</a:t>
            </a:r>
            <a:endParaRPr/>
          </a:p>
          <a:p>
            <a:pPr indent="0" lvl="0" marL="0" rtl="1" algn="r">
              <a:spcBef>
                <a:spcPts val="400"/>
              </a:spcBef>
              <a:spcAft>
                <a:spcPts val="0"/>
              </a:spcAft>
              <a:buNone/>
            </a:pPr>
            <a:r>
              <a:rPr lang="iw"/>
              <a:t>כל שרת מגדיר אילו קריאות ניתן לשלוח אליו.</a:t>
            </a:r>
            <a:endParaRPr/>
          </a:p>
          <a:p>
            <a:pPr indent="0" lvl="0" marL="0" rtl="1" algn="r">
              <a:spcBef>
                <a:spcPts val="400"/>
              </a:spcBef>
              <a:spcAft>
                <a:spcPts val="0"/>
              </a:spcAft>
              <a:buNone/>
            </a:pPr>
            <a:r>
              <a:rPr lang="iw"/>
              <a:t>לדוגמא, שרת של חנות בגדים, יגדיר קריאה בשביל לקבל רשימה של בגדים, ובשביל לבצע קניה של בגד, ולקבל פרטים על בגד ספציפי.</a:t>
            </a:r>
            <a:br>
              <a:rPr lang="iw"/>
            </a:br>
            <a:r>
              <a:rPr lang="iw"/>
              <a:t>זו רשימה של 3 קריאות שונות, שהם ה api שהשרת הזה חושף.</a:t>
            </a:r>
            <a:endParaRPr/>
          </a:p>
          <a:p>
            <a:pPr indent="0" lvl="0" marL="0" rtl="1" algn="r">
              <a:spcBef>
                <a:spcPts val="400"/>
              </a:spcBef>
              <a:spcAft>
                <a:spcPts val="0"/>
              </a:spcAft>
              <a:buNone/>
            </a:pPr>
            <a:r>
              <a:rPr lang="iw"/>
              <a:t>צד ה client של האתר, יוכל לשלוח קריאות http לקריאות האלה בלבד - ה api של השרת.</a:t>
            </a:r>
            <a:endParaRPr/>
          </a:p>
          <a:p>
            <a:pPr indent="0" lvl="0" marL="0" rtl="1" algn="r">
              <a:spcBef>
                <a:spcPts val="400"/>
              </a:spcBef>
              <a:spcAft>
                <a:spcPts val="0"/>
              </a:spcAft>
              <a:buNone/>
            </a:pPr>
            <a:r>
              <a:rPr lang="iw"/>
              <a:t>בקשי מה ai שיסביר לך עוד על המונח api</a:t>
            </a:r>
            <a:br>
              <a:rPr lang="iw"/>
            </a:br>
            <a:r>
              <a:rPr lang="iw"/>
              <a:t>פרומפט לדוגמא:</a:t>
            </a:r>
            <a:br>
              <a:rPr lang="iw"/>
            </a:br>
            <a:r>
              <a:rPr lang="iw"/>
              <a:t>Explain what an API is.</a:t>
            </a:r>
            <a:endParaRPr/>
          </a:p>
          <a:p>
            <a:pPr indent="0" lvl="0" marL="0" rtl="1" algn="r">
              <a:spcBef>
                <a:spcPts val="400"/>
              </a:spcBef>
              <a:spcAft>
                <a:spcPts val="0"/>
              </a:spcAft>
              <a:buNone/>
            </a:pPr>
            <a:r>
              <a:rPr lang="iw"/>
              <a:t>Give two real-world examples of APIs that are not related to programming.</a:t>
            </a:r>
            <a:endParaRPr/>
          </a:p>
          <a:p>
            <a:pPr indent="0" lvl="0" marL="0" rtl="1" algn="r">
              <a:spcBef>
                <a:spcPts val="400"/>
              </a:spcBef>
              <a:spcAft>
                <a:spcPts val="400"/>
              </a:spcAft>
              <a:buNone/>
            </a:pPr>
            <a:r>
              <a:rPr lang="iw"/>
              <a:t>Then explain how the same idea applies to web development. </a:t>
            </a:r>
            <a:r>
              <a:rPr lang="iw"/>
              <a:t>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2"/>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latin typeface="Calibri"/>
                <a:ea typeface="Calibri"/>
                <a:cs typeface="Calibri"/>
                <a:sym typeface="Calibri"/>
              </a:rPr>
              <a:t>למה api יחזיר תמיד json?</a:t>
            </a:r>
            <a:endParaRPr>
              <a:latin typeface="Calibri"/>
              <a:ea typeface="Calibri"/>
              <a:cs typeface="Calibri"/>
              <a:sym typeface="Calibri"/>
            </a:endParaRPr>
          </a:p>
        </p:txBody>
      </p:sp>
      <p:sp>
        <p:nvSpPr>
          <p:cNvPr id="244" name="Google Shape;244;p32"/>
          <p:cNvSpPr txBox="1"/>
          <p:nvPr>
            <p:ph idx="1" type="body"/>
          </p:nvPr>
        </p:nvSpPr>
        <p:spPr>
          <a:xfrm>
            <a:off x="819150" y="1420825"/>
            <a:ext cx="7505700" cy="33645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t>קריאות api יחזירו לנו בדרך כלל (כיום, בעבר פני הדברים היו אחרים, וגם כיום יש יוצאי דופן)</a:t>
            </a:r>
            <a:br>
              <a:rPr lang="iw"/>
            </a:br>
            <a:r>
              <a:rPr lang="iw"/>
              <a:t>נתונים בפורמט json. (לא נתונים מעוצבים עם html, לא טקסטים.)</a:t>
            </a:r>
            <a:br>
              <a:rPr lang="iw"/>
            </a:br>
            <a:r>
              <a:rPr lang="iw"/>
              <a:t>הסיבה היא - פורמט json הוא פורמט מאוד נח, ברור, אפשר להגדיר איתו מבני מידע ברורים ומדויקים,</a:t>
            </a:r>
            <a:endParaRPr/>
          </a:p>
          <a:p>
            <a:pPr indent="0" lvl="0" marL="0" rtl="1" algn="r">
              <a:spcBef>
                <a:spcPts val="400"/>
              </a:spcBef>
              <a:spcAft>
                <a:spcPts val="0"/>
              </a:spcAft>
              <a:buNone/>
            </a:pPr>
            <a:r>
              <a:rPr lang="iw"/>
              <a:t>והוא מהווה סטנדרט אחיד בפיתוח ברוב המקומות.</a:t>
            </a:r>
            <a:br>
              <a:rPr lang="iw"/>
            </a:br>
            <a:r>
              <a:rPr lang="iw"/>
              <a:t>כאשר דפדפן טוען אתר, בדרך כלל יש קריאות ראשונות בשביל להציג את האתר: קריאות אלה טוענות קבצי html css js, גם תמונות ואולי גם קבצי שמע.</a:t>
            </a:r>
            <a:br>
              <a:rPr lang="iw"/>
            </a:br>
            <a:r>
              <a:rPr lang="iw"/>
              <a:t>בהמשך, בשביל להציג נתונים השרת ישלח קריאות api לשרת בשביל לקבל מידע. המידע הזה יתקבל בד"כ בפורמט json, והדפדפן יעבד אותו כדי להציג אותו בצורה וויזואלית נאה.</a:t>
            </a:r>
            <a:br>
              <a:rPr lang="iw"/>
            </a:br>
            <a:r>
              <a:rPr lang="iw"/>
              <a:t>מי שקובע על הפורמט המדויק שהנתונים חוזרים הוא צד השרת ולא צד הלקוח!</a:t>
            </a:r>
            <a:br>
              <a:rPr lang="iw"/>
            </a:br>
            <a:r>
              <a:rPr lang="iw"/>
              <a:t>בקשי מה ai שיסביר לך עוד על הפורמט של ה data שחוזר מהשרת.</a:t>
            </a:r>
            <a:endParaRPr/>
          </a:p>
          <a:p>
            <a:pPr indent="0" lvl="0" marL="0" rtl="1" algn="r">
              <a:spcBef>
                <a:spcPts val="400"/>
              </a:spcBef>
              <a:spcAft>
                <a:spcPts val="0"/>
              </a:spcAft>
              <a:buNone/>
            </a:pPr>
            <a:r>
              <a:rPr lang="iw"/>
              <a:t>פרומפט לדוגמא:</a:t>
            </a:r>
            <a:br>
              <a:rPr lang="iw"/>
            </a:br>
            <a:r>
              <a:rPr lang="iw"/>
              <a:t>Explain the difference between HTML and JSON.</a:t>
            </a:r>
            <a:endParaRPr/>
          </a:p>
          <a:p>
            <a:pPr indent="0" lvl="0" marL="0" rtl="1" algn="r">
              <a:spcBef>
                <a:spcPts val="400"/>
              </a:spcBef>
              <a:spcAft>
                <a:spcPts val="0"/>
              </a:spcAft>
              <a:buNone/>
            </a:pPr>
            <a:r>
              <a:rPr lang="iw"/>
              <a:t>When is each format typically returned by a web server?</a:t>
            </a:r>
            <a:endParaRPr/>
          </a:p>
          <a:p>
            <a:pPr indent="0" lvl="0" marL="0" rtl="1" algn="r">
              <a:spcBef>
                <a:spcPts val="400"/>
              </a:spcBef>
              <a:spcAft>
                <a:spcPts val="400"/>
              </a:spcAft>
              <a:buNone/>
            </a:pPr>
            <a:r>
              <a:rPr lang="iw"/>
              <a:t>Do not assume any specific framework. </a:t>
            </a:r>
            <a:r>
              <a:rPr lang="iw"/>
              <a:t>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33"/>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latin typeface="Calibri"/>
                <a:ea typeface="Calibri"/>
                <a:cs typeface="Calibri"/>
                <a:sym typeface="Calibri"/>
              </a:rPr>
              <a:t>מה זה express?</a:t>
            </a:r>
            <a:endParaRPr>
              <a:latin typeface="Calibri"/>
              <a:ea typeface="Calibri"/>
              <a:cs typeface="Calibri"/>
              <a:sym typeface="Calibri"/>
            </a:endParaRPr>
          </a:p>
        </p:txBody>
      </p:sp>
      <p:sp>
        <p:nvSpPr>
          <p:cNvPr id="250" name="Google Shape;250;p33"/>
          <p:cNvSpPr txBox="1"/>
          <p:nvPr>
            <p:ph idx="1" type="body"/>
          </p:nvPr>
        </p:nvSpPr>
        <p:spPr>
          <a:xfrm>
            <a:off x="819150" y="1420825"/>
            <a:ext cx="7505700" cy="3364500"/>
          </a:xfrm>
          <a:prstGeom prst="rect">
            <a:avLst/>
          </a:prstGeom>
        </p:spPr>
        <p:txBody>
          <a:bodyPr anchorCtr="0" anchor="t" bIns="91425" lIns="91425" spcFirstLastPara="1" rIns="91425" wrap="square" tIns="91425">
            <a:normAutofit lnSpcReduction="10000"/>
          </a:bodyPr>
          <a:lstStyle/>
          <a:p>
            <a:pPr indent="0" lvl="0" marL="0" rtl="1" algn="r">
              <a:spcBef>
                <a:spcPts val="0"/>
              </a:spcBef>
              <a:spcAft>
                <a:spcPts val="0"/>
              </a:spcAft>
              <a:buNone/>
            </a:pPr>
            <a:r>
              <a:rPr lang="iw"/>
              <a:t>שקופית זו עוברת לממש את העקרונות התאורטיים שנלמדו בשקופיות קודמות, ולהטמיע אותם בפיתוח שרת nodejs.</a:t>
            </a:r>
            <a:endParaRPr/>
          </a:p>
          <a:p>
            <a:pPr indent="0" lvl="0" marL="0" rtl="1" algn="r">
              <a:spcBef>
                <a:spcPts val="400"/>
              </a:spcBef>
              <a:spcAft>
                <a:spcPts val="0"/>
              </a:spcAft>
              <a:buNone/>
            </a:pPr>
            <a:r>
              <a:rPr lang="iw"/>
              <a:t>למרות ששפת nodejs תומכת בפיתוח שרת עובד, שמאפשר לקבל קריאות ולהחזיר תשובות כלי להתקין ספריה נוספת כלל,</a:t>
            </a:r>
            <a:endParaRPr/>
          </a:p>
          <a:p>
            <a:pPr indent="0" lvl="0" marL="0" rtl="1" algn="r">
              <a:spcBef>
                <a:spcPts val="400"/>
              </a:spcBef>
              <a:spcAft>
                <a:spcPts val="0"/>
              </a:spcAft>
              <a:buNone/>
            </a:pPr>
            <a:r>
              <a:rPr lang="iw"/>
              <a:t>בכל זאת, ברוב רובם של המקרים בפיתוח node תותקן ספריה נוספת, שתהווה תשתית - framework בשביל פיתוח צד שרת.</a:t>
            </a:r>
            <a:br>
              <a:rPr lang="iw"/>
            </a:br>
            <a:r>
              <a:rPr lang="iw"/>
              <a:t>ספריה זו בנויה מעל הפונקציות הבסיסיות של nodejs, ומאפשרת להרחיב את היכולות, לארגן קוד מסודר וברור יותר, לתמוך במגוון יכולות. היכולות הבסיסיות של node בלי ספריה נוספת הן בסיסיות מאוד, ולא נוחות לשימוש.</a:t>
            </a:r>
            <a:endParaRPr/>
          </a:p>
          <a:p>
            <a:pPr indent="0" lvl="0" marL="0" rtl="1" algn="r">
              <a:spcBef>
                <a:spcPts val="400"/>
              </a:spcBef>
              <a:spcAft>
                <a:spcPts val="0"/>
              </a:spcAft>
              <a:buNone/>
            </a:pPr>
            <a:r>
              <a:rPr lang="iw"/>
              <a:t>שתי ספריות נפוצות מאוד כיום:</a:t>
            </a:r>
            <a:endParaRPr/>
          </a:p>
          <a:p>
            <a:pPr indent="-311150" lvl="0" marL="457200" rtl="0" algn="l">
              <a:spcBef>
                <a:spcPts val="400"/>
              </a:spcBef>
              <a:spcAft>
                <a:spcPts val="0"/>
              </a:spcAft>
              <a:buSzPts val="1300"/>
              <a:buChar char="-"/>
            </a:pPr>
            <a:r>
              <a:rPr lang="iw"/>
              <a:t>express - ספריה וותיקה מאוד, שימושית מאוד. מאוד בסיסית ויסודית, כוללת סט יכולותיחסית בסיסי.</a:t>
            </a:r>
            <a:endParaRPr/>
          </a:p>
          <a:p>
            <a:pPr indent="-311150" lvl="0" marL="457200" rtl="0" algn="l">
              <a:spcBef>
                <a:spcPts val="0"/>
              </a:spcBef>
              <a:spcAft>
                <a:spcPts val="0"/>
              </a:spcAft>
              <a:buSzPts val="1300"/>
              <a:buChar char="-"/>
            </a:pPr>
            <a:r>
              <a:rPr lang="iw"/>
              <a:t>fastify - ספריה חדשה יותר, כוללת סט כלים ויכולות עשיר בהרבה, בשנים האחרונות צוברת פופולאריות רבה.</a:t>
            </a:r>
            <a:endParaRPr/>
          </a:p>
          <a:p>
            <a:pPr indent="0" lvl="0" marL="0" rtl="1" algn="r">
              <a:spcBef>
                <a:spcPts val="400"/>
              </a:spcBef>
              <a:spcAft>
                <a:spcPts val="0"/>
              </a:spcAft>
              <a:buNone/>
            </a:pPr>
            <a:r>
              <a:rPr lang="iw"/>
              <a:t>בקורס זה יש התמקדות ב express, שמתאימה יותר כרגע בשלב לימוד והכרות ראשוני.</a:t>
            </a:r>
            <a:br>
              <a:rPr lang="iw"/>
            </a:br>
            <a:r>
              <a:rPr lang="iw"/>
              <a:t> השימוש ב express נועד כדי לפשט את הקוד, ולאפשר בצורה קלה לתמוך בקריאות שונות, והרצת צד שרת, ועוד.</a:t>
            </a:r>
            <a:endParaRPr/>
          </a:p>
          <a:p>
            <a:pPr indent="0" lvl="0" marL="0" rtl="1" algn="r">
              <a:spcBef>
                <a:spcPts val="400"/>
              </a:spcBef>
              <a:spcAft>
                <a:spcPts val="0"/>
              </a:spcAft>
              <a:buNone/>
            </a:pPr>
            <a:r>
              <a:rPr lang="iw"/>
              <a:t>בקשי מה ai שיסביר לך עוד על השימוש ב express</a:t>
            </a:r>
            <a:endParaRPr/>
          </a:p>
          <a:p>
            <a:pPr indent="0" lvl="0" marL="0" rtl="1" algn="r">
              <a:spcBef>
                <a:spcPts val="400"/>
              </a:spcBef>
              <a:spcAft>
                <a:spcPts val="0"/>
              </a:spcAft>
              <a:buNone/>
            </a:pPr>
            <a:r>
              <a:rPr lang="iw"/>
              <a:t>פרומפט לדוגמא:</a:t>
            </a:r>
            <a:br>
              <a:rPr lang="iw"/>
            </a:br>
            <a:r>
              <a:rPr lang="iw"/>
              <a:t>Explain why Express was created.</a:t>
            </a:r>
            <a:endParaRPr/>
          </a:p>
          <a:p>
            <a:pPr indent="0" lvl="0" marL="0" rtl="1" algn="r">
              <a:spcBef>
                <a:spcPts val="400"/>
              </a:spcBef>
              <a:spcAft>
                <a:spcPts val="0"/>
              </a:spcAft>
              <a:buNone/>
            </a:pPr>
            <a:r>
              <a:rPr lang="iw"/>
              <a:t>Compare creating a simple server with Node's http module and with Express.</a:t>
            </a:r>
            <a:endParaRPr/>
          </a:p>
          <a:p>
            <a:pPr indent="0" lvl="0" marL="0" rtl="1" algn="r">
              <a:spcBef>
                <a:spcPts val="400"/>
              </a:spcBef>
              <a:spcAft>
                <a:spcPts val="400"/>
              </a:spcAft>
              <a:buNone/>
            </a:pPr>
            <a:r>
              <a:rPr lang="iw"/>
              <a:t>Focus on readability and developer productivity. </a:t>
            </a:r>
            <a:r>
              <a:rPr lang="iw"/>
              <a:t>.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3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latin typeface="Calibri"/>
                <a:ea typeface="Calibri"/>
                <a:cs typeface="Calibri"/>
                <a:sym typeface="Calibri"/>
              </a:rPr>
              <a:t>מה זה routes?</a:t>
            </a:r>
            <a:endParaRPr>
              <a:latin typeface="Calibri"/>
              <a:ea typeface="Calibri"/>
              <a:cs typeface="Calibri"/>
              <a:sym typeface="Calibri"/>
            </a:endParaRPr>
          </a:p>
        </p:txBody>
      </p:sp>
      <p:sp>
        <p:nvSpPr>
          <p:cNvPr id="256" name="Google Shape;256;p34"/>
          <p:cNvSpPr txBox="1"/>
          <p:nvPr>
            <p:ph idx="1" type="body"/>
          </p:nvPr>
        </p:nvSpPr>
        <p:spPr>
          <a:xfrm>
            <a:off x="819150" y="1420825"/>
            <a:ext cx="7505700" cy="3364500"/>
          </a:xfrm>
          <a:prstGeom prst="rect">
            <a:avLst/>
          </a:prstGeom>
        </p:spPr>
        <p:txBody>
          <a:bodyPr anchorCtr="0" anchor="t" bIns="91425" lIns="91425" spcFirstLastPara="1" rIns="91425" wrap="square" tIns="91425">
            <a:normAutofit fontScale="85000" lnSpcReduction="20000"/>
          </a:bodyPr>
          <a:lstStyle/>
          <a:p>
            <a:pPr indent="0" lvl="0" marL="0" rtl="1" algn="r">
              <a:spcBef>
                <a:spcPts val="0"/>
              </a:spcBef>
              <a:spcAft>
                <a:spcPts val="0"/>
              </a:spcAft>
              <a:buNone/>
            </a:pPr>
            <a:r>
              <a:rPr lang="iw"/>
              <a:t>כאמור, כל שרת מספק api שהקליינט אמור לפנות אליו. כל קריאת api מהווה קריאה שהשרת מייחצן, ואפשר לקרוא אליה מבחוץ (מצד קלינט כלשהו). כל שרת מייחצן כמות רבה של קריאות api (לפי הצורך והתוכן של השרת)</a:t>
            </a:r>
            <a:endParaRPr/>
          </a:p>
          <a:p>
            <a:pPr indent="0" lvl="0" marL="0" rtl="1" algn="r">
              <a:spcBef>
                <a:spcPts val="400"/>
              </a:spcBef>
              <a:spcAft>
                <a:spcPts val="0"/>
              </a:spcAft>
              <a:buNone/>
            </a:pPr>
            <a:r>
              <a:rPr lang="iw"/>
              <a:t>איך נבדיל בין הקריאות?</a:t>
            </a:r>
            <a:endParaRPr/>
          </a:p>
          <a:p>
            <a:pPr indent="0" lvl="0" marL="0" rtl="1" algn="r">
              <a:spcBef>
                <a:spcPts val="400"/>
              </a:spcBef>
              <a:spcAft>
                <a:spcPts val="0"/>
              </a:spcAft>
              <a:buNone/>
            </a:pPr>
            <a:r>
              <a:rPr lang="iw"/>
              <a:t>כל קריאה תתחיל תמיד עם הכתובת של השרת, ותמשיך עם ניווט פנימי בתוך השרת - הניווט הזה מוגדר מראש על ידי השרת, ולא קשור בכלל לצד הקליינט, צד הקליינט תמיד יקרא לפי הניווט הפנימי שהשרת מאפשר.</a:t>
            </a:r>
            <a:endParaRPr/>
          </a:p>
          <a:p>
            <a:pPr indent="0" lvl="0" marL="0" rtl="1" algn="r">
              <a:spcBef>
                <a:spcPts val="400"/>
              </a:spcBef>
              <a:spcAft>
                <a:spcPts val="0"/>
              </a:spcAft>
              <a:buNone/>
            </a:pPr>
            <a:r>
              <a:rPr lang="iw"/>
              <a:t>לדוגמא:</a:t>
            </a:r>
            <a:endParaRPr/>
          </a:p>
          <a:p>
            <a:pPr indent="0" lvl="0" marL="0" rtl="0" algn="l">
              <a:spcBef>
                <a:spcPts val="400"/>
              </a:spcBef>
              <a:spcAft>
                <a:spcPts val="0"/>
              </a:spcAft>
              <a:buNone/>
            </a:pPr>
            <a:r>
              <a:rPr lang="iw"/>
              <a:t>GET </a:t>
            </a:r>
            <a:r>
              <a:rPr lang="iw" u="sng">
                <a:solidFill>
                  <a:schemeClr val="hlink"/>
                </a:solidFill>
                <a:hlinkClick r:id="rId3"/>
              </a:rPr>
              <a:t>http://localhost:3000/courses</a:t>
            </a:r>
            <a:endParaRPr/>
          </a:p>
          <a:p>
            <a:pPr indent="0" lvl="0" marL="0" rtl="0" algn="l">
              <a:spcBef>
                <a:spcPts val="400"/>
              </a:spcBef>
              <a:spcAft>
                <a:spcPts val="0"/>
              </a:spcAft>
              <a:buNone/>
            </a:pPr>
            <a:r>
              <a:rPr lang="iw"/>
              <a:t>GET </a:t>
            </a:r>
            <a:r>
              <a:rPr lang="iw" u="sng">
                <a:solidFill>
                  <a:schemeClr val="hlink"/>
                </a:solidFill>
                <a:hlinkClick r:id="rId4"/>
              </a:rPr>
              <a:t>http://localhost:3000/teachers</a:t>
            </a:r>
            <a:endParaRPr/>
          </a:p>
          <a:p>
            <a:pPr indent="0" lvl="0" marL="0" rtl="0" algn="l">
              <a:spcBef>
                <a:spcPts val="400"/>
              </a:spcBef>
              <a:spcAft>
                <a:spcPts val="0"/>
              </a:spcAft>
              <a:buNone/>
            </a:pPr>
            <a:r>
              <a:rPr lang="iw"/>
              <a:t>GET </a:t>
            </a:r>
            <a:r>
              <a:rPr lang="iw" u="sng">
                <a:solidFill>
                  <a:schemeClr val="hlink"/>
                </a:solidFill>
                <a:hlinkClick r:id="rId5"/>
              </a:rPr>
              <a:t>http://localhost:3000/products/33</a:t>
            </a:r>
            <a:endParaRPr/>
          </a:p>
          <a:p>
            <a:pPr indent="0" lvl="0" marL="0" rtl="1" algn="r">
              <a:spcBef>
                <a:spcPts val="400"/>
              </a:spcBef>
              <a:spcAft>
                <a:spcPts val="0"/>
              </a:spcAft>
              <a:buNone/>
            </a:pPr>
            <a:r>
              <a:rPr lang="iw"/>
              <a:t>בכל הכתובת הנ"ל, השרת הוא localhost:3000. ההמשך הוא הניווט הפנימי שבתוך השרת:</a:t>
            </a:r>
            <a:br>
              <a:rPr lang="iw"/>
            </a:br>
            <a:r>
              <a:rPr lang="iw"/>
              <a:t>מהקריאה הראשונה נצפה לקבל רשימה של קורסים, מהקריאה השניה רשימה של מורים, מהקריאה השלישית את המוצר שה id שלו הוא 33.</a:t>
            </a:r>
            <a:br>
              <a:rPr lang="iw"/>
            </a:br>
            <a:r>
              <a:rPr lang="iw"/>
              <a:t>כל "נייוט" פנימי כזה, מכונה route.</a:t>
            </a:r>
            <a:br>
              <a:rPr lang="iw"/>
            </a:br>
            <a:r>
              <a:rPr lang="iw"/>
              <a:t>בבנית צד שרת חשוב להגדיר routes שונים, לפי הקריאות שהשרת אמור לאפשר.</a:t>
            </a:r>
            <a:endParaRPr/>
          </a:p>
          <a:p>
            <a:pPr indent="0" lvl="0" marL="0" rtl="1" algn="r">
              <a:spcBef>
                <a:spcPts val="400"/>
              </a:spcBef>
              <a:spcAft>
                <a:spcPts val="0"/>
              </a:spcAft>
              <a:buNone/>
            </a:pPr>
            <a:r>
              <a:rPr lang="iw"/>
              <a:t>בקשי מה ai שיסביר לך עוד על routes, ועל ההגדרה שלהם ב express</a:t>
            </a:r>
            <a:endParaRPr/>
          </a:p>
          <a:p>
            <a:pPr indent="0" lvl="0" marL="0" rtl="1" algn="r">
              <a:spcBef>
                <a:spcPts val="400"/>
              </a:spcBef>
              <a:spcAft>
                <a:spcPts val="0"/>
              </a:spcAft>
              <a:buNone/>
            </a:pPr>
            <a:r>
              <a:rPr lang="iw"/>
              <a:t>פרומפט לדוגמא:</a:t>
            </a:r>
            <a:endParaRPr/>
          </a:p>
          <a:p>
            <a:pPr indent="0" lvl="0" marL="0" rtl="1" algn="r">
              <a:spcBef>
                <a:spcPts val="400"/>
              </a:spcBef>
              <a:spcAft>
                <a:spcPts val="0"/>
              </a:spcAft>
              <a:buNone/>
            </a:pPr>
            <a:r>
              <a:rPr lang="iw"/>
              <a:t>Explain what a route is in Express.</a:t>
            </a:r>
            <a:endParaRPr/>
          </a:p>
          <a:p>
            <a:pPr indent="0" lvl="0" marL="0" rtl="1" algn="r">
              <a:spcBef>
                <a:spcPts val="400"/>
              </a:spcBef>
              <a:spcAft>
                <a:spcPts val="0"/>
              </a:spcAft>
              <a:buNone/>
            </a:pPr>
            <a:r>
              <a:rPr lang="iw"/>
              <a:t>Show three examples of GET routes and explain what each one could return.</a:t>
            </a:r>
            <a:endParaRPr/>
          </a:p>
          <a:p>
            <a:pPr indent="0" lvl="0" marL="0" rtl="1" algn="r">
              <a:spcBef>
                <a:spcPts val="400"/>
              </a:spcBef>
              <a:spcAft>
                <a:spcPts val="400"/>
              </a:spcAft>
              <a:buNone/>
            </a:pPr>
            <a:r>
              <a:rPr lang="iw"/>
              <a:t>Do not use POST, PUT or DELETE yet. </a:t>
            </a:r>
            <a:r>
              <a:rPr lang="iw"/>
              <a:t>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35"/>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latin typeface="Calibri"/>
                <a:ea typeface="Calibri"/>
                <a:cs typeface="Calibri"/>
                <a:sym typeface="Calibri"/>
              </a:rPr>
              <a:t>חלוקת קוד למודולים</a:t>
            </a:r>
            <a:endParaRPr>
              <a:latin typeface="Calibri"/>
              <a:ea typeface="Calibri"/>
              <a:cs typeface="Calibri"/>
              <a:sym typeface="Calibri"/>
            </a:endParaRPr>
          </a:p>
        </p:txBody>
      </p:sp>
      <p:sp>
        <p:nvSpPr>
          <p:cNvPr id="262" name="Google Shape;262;p35"/>
          <p:cNvSpPr txBox="1"/>
          <p:nvPr>
            <p:ph idx="1" type="body"/>
          </p:nvPr>
        </p:nvSpPr>
        <p:spPr>
          <a:xfrm>
            <a:off x="819150" y="1420825"/>
            <a:ext cx="7505700" cy="33645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t>בבנית פרויקט ב node, חשוב מאוד להקפיד על חלוקה לקבצים מסודרת. בנוד, כל קובץ מכונה גם מודול (module)</a:t>
            </a:r>
            <a:endParaRPr/>
          </a:p>
          <a:p>
            <a:pPr indent="0" lvl="0" marL="0" rtl="1" algn="r">
              <a:spcBef>
                <a:spcPts val="400"/>
              </a:spcBef>
              <a:spcAft>
                <a:spcPts val="0"/>
              </a:spcAft>
              <a:buNone/>
            </a:pPr>
            <a:r>
              <a:rPr lang="iw"/>
              <a:t>בפרויקט נוד, תמיד הקובץ הראשי יהיה </a:t>
            </a:r>
            <a:r>
              <a:rPr lang="iw" u="sng">
                <a:solidFill>
                  <a:schemeClr val="hlink"/>
                </a:solidFill>
                <a:hlinkClick r:id="rId3"/>
              </a:rPr>
              <a:t>app.js</a:t>
            </a:r>
            <a:r>
              <a:rPr lang="iw"/>
              <a:t> או </a:t>
            </a:r>
            <a:r>
              <a:rPr lang="iw" u="sng">
                <a:solidFill>
                  <a:schemeClr val="hlink"/>
                </a:solidFill>
                <a:hlinkClick r:id="rId4"/>
              </a:rPr>
              <a:t>index.js</a:t>
            </a:r>
            <a:r>
              <a:rPr lang="iw"/>
              <a:t>. אפשר להגדיר את כל הקוד של השרת בתוך הקובץ הזה. התוצאה תהיה קובץ ארוך ארוך ובלתי ניתן להתמצאות…</a:t>
            </a:r>
            <a:endParaRPr/>
          </a:p>
          <a:p>
            <a:pPr indent="0" lvl="0" marL="0" rtl="1" algn="r">
              <a:spcBef>
                <a:spcPts val="400"/>
              </a:spcBef>
              <a:spcAft>
                <a:spcPts val="0"/>
              </a:spcAft>
              <a:buNone/>
            </a:pPr>
            <a:r>
              <a:rPr lang="iw"/>
              <a:t>לכן חשוב מאוד להקפיד על חלוקה מסודרת לקבצים.</a:t>
            </a:r>
            <a:endParaRPr/>
          </a:p>
          <a:p>
            <a:pPr indent="0" lvl="0" marL="0" rtl="1" algn="r">
              <a:spcBef>
                <a:spcPts val="400"/>
              </a:spcBef>
              <a:spcAft>
                <a:spcPts val="0"/>
              </a:spcAft>
              <a:buNone/>
            </a:pPr>
            <a:r>
              <a:rPr lang="iw"/>
              <a:t>בהמשך הקורס ילמד יותר מדויק חלוקה מסודרת ונכונה לתיקיות וקבצים. בשלב זה חשוב להקפיד על חלוקה של הפרויקט למספר קבצים לפי נושאים. חשוב לייבא את הקבצים לתוך הקובץ הראשי, בראש הקובץ.</a:t>
            </a:r>
            <a:endParaRPr/>
          </a:p>
          <a:p>
            <a:pPr indent="0" lvl="0" marL="0" rtl="1" algn="r">
              <a:spcBef>
                <a:spcPts val="400"/>
              </a:spcBef>
              <a:spcAft>
                <a:spcPts val="0"/>
              </a:spcAft>
              <a:buNone/>
            </a:pPr>
            <a:r>
              <a:t/>
            </a:r>
            <a:endParaRPr/>
          </a:p>
          <a:p>
            <a:pPr indent="0" lvl="0" marL="0" rtl="1" algn="r">
              <a:spcBef>
                <a:spcPts val="400"/>
              </a:spcBef>
              <a:spcAft>
                <a:spcPts val="0"/>
              </a:spcAft>
              <a:buNone/>
            </a:pPr>
            <a:r>
              <a:rPr lang="iw"/>
              <a:t>בקשי מה ai שיסביר לך עוד על חלוקה למודלים ב nodejs, ואיך קוראים מקובץ לקובץ.</a:t>
            </a:r>
            <a:endParaRPr/>
          </a:p>
          <a:p>
            <a:pPr indent="0" lvl="0" marL="0" rtl="1" algn="r">
              <a:spcBef>
                <a:spcPts val="400"/>
              </a:spcBef>
              <a:spcAft>
                <a:spcPts val="0"/>
              </a:spcAft>
              <a:buNone/>
            </a:pPr>
            <a:r>
              <a:rPr lang="iw"/>
              <a:t>פרומפט לדוגמא:</a:t>
            </a:r>
            <a:endParaRPr/>
          </a:p>
          <a:p>
            <a:pPr indent="0" lvl="0" marL="0" rtl="1" algn="r">
              <a:spcBef>
                <a:spcPts val="400"/>
              </a:spcBef>
              <a:spcAft>
                <a:spcPts val="0"/>
              </a:spcAft>
              <a:buNone/>
            </a:pPr>
            <a:r>
              <a:rPr lang="iw"/>
              <a:t>In Node.js, what is a module?</a:t>
            </a:r>
            <a:endParaRPr/>
          </a:p>
          <a:p>
            <a:pPr indent="0" lvl="0" marL="0" rtl="1" algn="r">
              <a:spcBef>
                <a:spcPts val="400"/>
              </a:spcBef>
              <a:spcAft>
                <a:spcPts val="0"/>
              </a:spcAft>
              <a:buNone/>
            </a:pPr>
            <a:r>
              <a:rPr lang="iw"/>
              <a:t>Explain how one JavaScript file can use code from another JavaScript file.</a:t>
            </a:r>
            <a:endParaRPr/>
          </a:p>
          <a:p>
            <a:pPr indent="0" lvl="0" marL="0" rtl="1" algn="r">
              <a:spcBef>
                <a:spcPts val="400"/>
              </a:spcBef>
              <a:spcAft>
                <a:spcPts val="400"/>
              </a:spcAft>
              <a:buNone/>
            </a:pPr>
            <a:r>
              <a:rPr lang="iw"/>
              <a:t>Show a very small example using module.exports and require().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3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latin typeface="Calibri"/>
                <a:ea typeface="Calibri"/>
                <a:cs typeface="Calibri"/>
                <a:sym typeface="Calibri"/>
              </a:rPr>
              <a:t>מבנה הפרויקט</a:t>
            </a:r>
            <a:endParaRPr>
              <a:latin typeface="Calibri"/>
              <a:ea typeface="Calibri"/>
              <a:cs typeface="Calibri"/>
              <a:sym typeface="Calibri"/>
            </a:endParaRPr>
          </a:p>
        </p:txBody>
      </p:sp>
      <p:sp>
        <p:nvSpPr>
          <p:cNvPr id="268" name="Google Shape;268;p36"/>
          <p:cNvSpPr txBox="1"/>
          <p:nvPr>
            <p:ph idx="1" type="body"/>
          </p:nvPr>
        </p:nvSpPr>
        <p:spPr>
          <a:xfrm>
            <a:off x="819150" y="1420825"/>
            <a:ext cx="7505700" cy="3364500"/>
          </a:xfrm>
          <a:prstGeom prst="rect">
            <a:avLst/>
          </a:prstGeom>
        </p:spPr>
        <p:txBody>
          <a:bodyPr anchorCtr="0" anchor="t" bIns="91425" lIns="91425" spcFirstLastPara="1" rIns="91425" wrap="square" tIns="91425">
            <a:normAutofit lnSpcReduction="20000"/>
          </a:bodyPr>
          <a:lstStyle/>
          <a:p>
            <a:pPr indent="0" lvl="0" marL="0" rtl="1" algn="r">
              <a:spcBef>
                <a:spcPts val="0"/>
              </a:spcBef>
              <a:spcAft>
                <a:spcPts val="0"/>
              </a:spcAft>
              <a:buNone/>
            </a:pPr>
            <a:r>
              <a:rPr lang="iw"/>
              <a:t>במהלך הקורס יש שיעורי בית בסיום כל שיעור. שיעורי הבית בנויים האחד על השני, ובסוף הקורס יש להגיש את הפרויקט הגמור. המטרה היא להגיע לפרויקט צד שרת עובד, שתומך במגוון סוגי קריאות, מאורגן נכון, וכולל ניהול שגיאות.</a:t>
            </a:r>
            <a:endParaRPr/>
          </a:p>
          <a:p>
            <a:pPr indent="0" lvl="0" marL="0" rtl="1" algn="r">
              <a:spcBef>
                <a:spcPts val="400"/>
              </a:spcBef>
              <a:spcAft>
                <a:spcPts val="0"/>
              </a:spcAft>
              <a:buNone/>
            </a:pPr>
            <a:r>
              <a:rPr lang="iw"/>
              <a:t>בשיעור הראשון היה את הבסיס לפרויקט, ובשיעור זה יש המשך, לעיתים קרובות, שיעורי הבית ידרשו מחיקה של קוד משיעור קודם בשביל לכתוב קוד נכון ומדויק יותר.</a:t>
            </a:r>
            <a:endParaRPr/>
          </a:p>
          <a:p>
            <a:pPr indent="0" lvl="0" marL="0" rtl="1" algn="r">
              <a:spcBef>
                <a:spcPts val="400"/>
              </a:spcBef>
              <a:spcAft>
                <a:spcPts val="0"/>
              </a:spcAft>
              <a:buNone/>
            </a:pPr>
            <a:r>
              <a:rPr lang="iw"/>
              <a:t>לכן חשוב ביותר, להעלות את שיעורי הבית בסוף כל שיעור לגיט בקומיט חדש, על מנת לאפשר מעקב מסודר אחרי ההסטוריה.</a:t>
            </a:r>
            <a:endParaRPr/>
          </a:p>
          <a:p>
            <a:pPr indent="0" lvl="0" marL="0" rtl="1" algn="r">
              <a:spcBef>
                <a:spcPts val="400"/>
              </a:spcBef>
              <a:spcAft>
                <a:spcPts val="0"/>
              </a:spcAft>
              <a:buNone/>
            </a:pPr>
            <a:r>
              <a:rPr lang="iw"/>
              <a:t>תוכן הפרויקט:</a:t>
            </a:r>
            <a:endParaRPr/>
          </a:p>
          <a:p>
            <a:pPr indent="0" lvl="0" marL="0" rtl="1" algn="r">
              <a:spcBef>
                <a:spcPts val="400"/>
              </a:spcBef>
              <a:spcAft>
                <a:spcPts val="0"/>
              </a:spcAft>
              <a:buNone/>
            </a:pPr>
            <a:r>
              <a:rPr lang="iw"/>
              <a:t>הפרויקט הוא אתר לניהול של קורסים.</a:t>
            </a:r>
            <a:endParaRPr/>
          </a:p>
          <a:p>
            <a:pPr indent="0" lvl="0" marL="0" rtl="1" algn="r">
              <a:spcBef>
                <a:spcPts val="400"/>
              </a:spcBef>
              <a:spcAft>
                <a:spcPts val="0"/>
              </a:spcAft>
              <a:buNone/>
            </a:pPr>
            <a:r>
              <a:rPr lang="iw"/>
              <a:t>הוא כולל ניהול של רשימת קורסים, רשימת תלמידים, ורישום של תלמידים לקורסים.</a:t>
            </a:r>
            <a:endParaRPr/>
          </a:p>
          <a:p>
            <a:pPr indent="0" lvl="0" marL="0" rtl="1" algn="r">
              <a:spcBef>
                <a:spcPts val="400"/>
              </a:spcBef>
              <a:spcAft>
                <a:spcPts val="0"/>
              </a:spcAft>
              <a:buNone/>
            </a:pPr>
            <a:r>
              <a:rPr lang="iw"/>
              <a:t>השרת יאפשר: לקבל את רשימת הקורסים, לערוך קורס, להוסיף קורס ולמחוק.</a:t>
            </a:r>
            <a:endParaRPr/>
          </a:p>
          <a:p>
            <a:pPr indent="0" lvl="0" marL="0" rtl="1" algn="r">
              <a:spcBef>
                <a:spcPts val="400"/>
              </a:spcBef>
              <a:spcAft>
                <a:spcPts val="0"/>
              </a:spcAft>
              <a:buNone/>
            </a:pPr>
            <a:r>
              <a:rPr lang="iw"/>
              <a:t>כנ"ל עבור התלמידים - לקבל רשימה, לקבל פרטים של תלמיד בודד, לערוך ולמחוק.</a:t>
            </a:r>
            <a:endParaRPr/>
          </a:p>
          <a:p>
            <a:pPr indent="0" lvl="0" marL="0" rtl="1" algn="r">
              <a:spcBef>
                <a:spcPts val="400"/>
              </a:spcBef>
              <a:spcAft>
                <a:spcPts val="0"/>
              </a:spcAft>
              <a:buNone/>
            </a:pPr>
            <a:r>
              <a:rPr lang="iw"/>
              <a:t>כמו כן יאפשר לקבל לכל קורס את התלמידים הרשומים אליו (ולכל תלמיד את רשימת הקורסים שהוא רשום אליהם) ומאפשר רישום לקורס ומחיקת רישום.</a:t>
            </a:r>
            <a:endParaRPr/>
          </a:p>
          <a:p>
            <a:pPr indent="0" lvl="0" marL="0" rtl="1" algn="r">
              <a:spcBef>
                <a:spcPts val="400"/>
              </a:spcBef>
              <a:spcAft>
                <a:spcPts val="0"/>
              </a:spcAft>
              <a:buNone/>
            </a:pPr>
            <a:r>
              <a:rPr lang="iw"/>
              <a:t>נלמד גם כיצד לבדוק שרת על ידי שימוש בתוכנת postman.</a:t>
            </a:r>
            <a:endParaRPr/>
          </a:p>
          <a:p>
            <a:pPr indent="0" lvl="0" marL="0" rtl="1" algn="r">
              <a:spcBef>
                <a:spcPts val="400"/>
              </a:spcBef>
              <a:spcAft>
                <a:spcPts val="0"/>
              </a:spcAft>
              <a:buNone/>
            </a:pPr>
            <a:r>
              <a:rPr lang="iw"/>
              <a:t>בשלב זה לא יהיה עדיין חיבור ל db, וכל הנתונים יוגדרו על ידי מערכים בקוד בלבד (או בקבצי data)</a:t>
            </a:r>
            <a:endParaRPr/>
          </a:p>
          <a:p>
            <a:pPr indent="0" lvl="0" marL="0" rtl="1" algn="r">
              <a:spcBef>
                <a:spcPts val="400"/>
              </a:spcBef>
              <a:spcAft>
                <a:spcPts val="400"/>
              </a:spcAft>
              <a:buNone/>
            </a:pPr>
            <a:r>
              <a:rPr lang="iw"/>
              <a:t>(זוהי המטרה הסופית של הפרויקט, לא שיעורי הבית של השיעור הנוכחי)</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7"/>
          <p:cNvSpPr txBox="1"/>
          <p:nvPr>
            <p:ph type="title"/>
          </p:nvPr>
        </p:nvSpPr>
        <p:spPr>
          <a:xfrm>
            <a:off x="819150" y="236650"/>
            <a:ext cx="7505700" cy="9546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latin typeface="Calibri"/>
                <a:ea typeface="Calibri"/>
                <a:cs typeface="Calibri"/>
                <a:sym typeface="Calibri"/>
              </a:rPr>
              <a:t>משימה 🔨</a:t>
            </a:r>
            <a:endParaRPr>
              <a:latin typeface="Calibri"/>
              <a:ea typeface="Calibri"/>
              <a:cs typeface="Calibri"/>
              <a:sym typeface="Calibri"/>
            </a:endParaRPr>
          </a:p>
        </p:txBody>
      </p:sp>
      <p:sp>
        <p:nvSpPr>
          <p:cNvPr id="274" name="Google Shape;274;p37"/>
          <p:cNvSpPr txBox="1"/>
          <p:nvPr>
            <p:ph idx="1" type="body"/>
          </p:nvPr>
        </p:nvSpPr>
        <p:spPr>
          <a:xfrm>
            <a:off x="819150" y="765550"/>
            <a:ext cx="7505700" cy="41106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t>בשיעור זה יש לשנות את השרת שנוצר בשיעור קודם לפי ההנחיות הבאות:</a:t>
            </a:r>
            <a:endParaRPr/>
          </a:p>
          <a:p>
            <a:pPr indent="0" lvl="0" marL="0" rtl="1" algn="r">
              <a:spcBef>
                <a:spcPts val="400"/>
              </a:spcBef>
              <a:spcAft>
                <a:spcPts val="0"/>
              </a:spcAft>
              <a:buNone/>
            </a:pPr>
            <a:r>
              <a:rPr lang="iw"/>
              <a:t>השרת אמור להיות מוגדר על ידי ספריית express.</a:t>
            </a:r>
            <a:endParaRPr/>
          </a:p>
          <a:p>
            <a:pPr indent="0" lvl="0" marL="0" rtl="1" algn="r">
              <a:spcBef>
                <a:spcPts val="400"/>
              </a:spcBef>
              <a:spcAft>
                <a:spcPts val="0"/>
              </a:spcAft>
              <a:buNone/>
            </a:pPr>
            <a:r>
              <a:rPr lang="iw"/>
              <a:t>יש להגדיר בשרת מערכים של רשימת קורסים (הוגדר כבר בשיעור קודם), ומערך של רשימת תלמידים.</a:t>
            </a:r>
            <a:endParaRPr/>
          </a:p>
          <a:p>
            <a:pPr indent="0" lvl="0" marL="0" rtl="1" algn="r">
              <a:spcBef>
                <a:spcPts val="400"/>
              </a:spcBef>
              <a:spcAft>
                <a:spcPts val="0"/>
              </a:spcAft>
              <a:buNone/>
            </a:pPr>
            <a:r>
              <a:rPr lang="iw"/>
              <a:t>על השרת להיות מחולק למספר קבצים:</a:t>
            </a:r>
            <a:endParaRPr/>
          </a:p>
          <a:p>
            <a:pPr indent="0" lvl="0" marL="0" rtl="1" algn="r">
              <a:spcBef>
                <a:spcPts val="400"/>
              </a:spcBef>
              <a:spcAft>
                <a:spcPts val="0"/>
              </a:spcAft>
              <a:buNone/>
            </a:pPr>
            <a:r>
              <a:rPr lang="iw"/>
              <a:t>יש את הקובץ הראשי, קובץ עבור ניהול של הקורסים וקובץ עבור התלמידים.</a:t>
            </a:r>
            <a:endParaRPr/>
          </a:p>
          <a:p>
            <a:pPr indent="0" lvl="0" marL="0" rtl="1" algn="r">
              <a:spcBef>
                <a:spcPts val="400"/>
              </a:spcBef>
              <a:spcAft>
                <a:spcPts val="0"/>
              </a:spcAft>
              <a:buNone/>
            </a:pPr>
            <a:r>
              <a:rPr lang="iw"/>
              <a:t>על השרת לתמוך במספר routes שונים:</a:t>
            </a:r>
            <a:endParaRPr/>
          </a:p>
          <a:p>
            <a:pPr indent="-311150" lvl="0" marL="457200" rtl="0" algn="l">
              <a:spcBef>
                <a:spcPts val="400"/>
              </a:spcBef>
              <a:spcAft>
                <a:spcPts val="0"/>
              </a:spcAft>
              <a:buSzPts val="1300"/>
              <a:buChar char="-"/>
            </a:pPr>
            <a:r>
              <a:rPr lang="iw" u="sng">
                <a:solidFill>
                  <a:schemeClr val="hlink"/>
                </a:solidFill>
                <a:hlinkClick r:id="rId3"/>
              </a:rPr>
              <a:t>http://localhost:3000</a:t>
            </a:r>
            <a:r>
              <a:rPr lang="iw"/>
              <a:t> - קריאה לכתובת השרת בלי ניווט, אמורה להחזיר אוביקט פשוט שמכיל מידע שהשרת עובד ותאור קצר על השרת</a:t>
            </a:r>
            <a:endParaRPr/>
          </a:p>
          <a:p>
            <a:pPr indent="-311150" lvl="0" marL="457200" rtl="0" algn="l">
              <a:spcBef>
                <a:spcPts val="0"/>
              </a:spcBef>
              <a:spcAft>
                <a:spcPts val="0"/>
              </a:spcAft>
              <a:buSzPts val="1300"/>
              <a:buChar char="-"/>
            </a:pPr>
            <a:r>
              <a:rPr lang="iw" u="sng">
                <a:solidFill>
                  <a:schemeClr val="hlink"/>
                </a:solidFill>
                <a:hlinkClick r:id="rId4"/>
              </a:rPr>
              <a:t>http://localhost:3000/courses</a:t>
            </a:r>
            <a:r>
              <a:rPr lang="iw"/>
              <a:t> - קריאה זו כוללת ניווט פנימי, ואמורה להחזיר את רשימת הקורסים</a:t>
            </a:r>
            <a:endParaRPr/>
          </a:p>
          <a:p>
            <a:pPr indent="-311150" lvl="0" marL="457200" rtl="0" algn="l">
              <a:spcBef>
                <a:spcPts val="0"/>
              </a:spcBef>
              <a:spcAft>
                <a:spcPts val="0"/>
              </a:spcAft>
              <a:buSzPts val="1300"/>
              <a:buChar char="-"/>
            </a:pPr>
            <a:r>
              <a:rPr lang="iw" u="sng">
                <a:solidFill>
                  <a:schemeClr val="hlink"/>
                </a:solidFill>
                <a:hlinkClick r:id="rId5"/>
              </a:rPr>
              <a:t>http://localhost:3000/students</a:t>
            </a:r>
            <a:r>
              <a:rPr lang="iw"/>
              <a:t> - קריאה עם ניווט פנימי, אמורה להחזיר את רשימת התלמידים</a:t>
            </a:r>
            <a:endParaRPr/>
          </a:p>
          <a:p>
            <a:pPr indent="0" lvl="0" marL="0" rtl="1" algn="r">
              <a:spcBef>
                <a:spcPts val="400"/>
              </a:spcBef>
              <a:spcAft>
                <a:spcPts val="0"/>
              </a:spcAft>
              <a:buNone/>
            </a:pPr>
            <a:r>
              <a:rPr lang="iw"/>
              <a:t>כל המידע שחוזר מהשרת חייב להיות בפורמט json בלבד!!</a:t>
            </a:r>
            <a:endParaRPr/>
          </a:p>
          <a:p>
            <a:pPr indent="0" lvl="0" marL="0" rtl="1" algn="r">
              <a:spcBef>
                <a:spcPts val="400"/>
              </a:spcBef>
              <a:spcAft>
                <a:spcPts val="400"/>
              </a:spcAft>
              <a:buNone/>
            </a:pPr>
            <a:r>
              <a:rPr lang="iw"/>
              <a:t>בשלב מתקדם יותר ילמד כיצד לבדוק את השרת (תוכנת Postman) בשלב זה, כדי לבדוק את הקריאות, יש לכתוב את הכתובת בשורת הכתובת של הדפדפן, ולראות שמוצג בדפדפן את התשובה המתבקשת, כאוביקט json.</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38"/>
          <p:cNvSpPr txBox="1"/>
          <p:nvPr>
            <p:ph type="title"/>
          </p:nvPr>
        </p:nvSpPr>
        <p:spPr>
          <a:xfrm>
            <a:off x="819150" y="845600"/>
            <a:ext cx="7505700" cy="626700"/>
          </a:xfrm>
          <a:prstGeom prst="rect">
            <a:avLst/>
          </a:prstGeom>
        </p:spPr>
        <p:txBody>
          <a:bodyPr anchorCtr="0" anchor="t" bIns="91425" lIns="91425" spcFirstLastPara="1" rIns="91425" wrap="square" tIns="91425">
            <a:normAutofit fontScale="90000"/>
          </a:bodyPr>
          <a:lstStyle/>
          <a:p>
            <a:pPr indent="0" lvl="0" marL="0" rtl="1" algn="r">
              <a:spcBef>
                <a:spcPts val="0"/>
              </a:spcBef>
              <a:spcAft>
                <a:spcPts val="0"/>
              </a:spcAft>
              <a:buNone/>
            </a:pPr>
            <a:r>
              <a:rPr lang="iw">
                <a:latin typeface="Calibri"/>
                <a:ea typeface="Calibri"/>
                <a:cs typeface="Calibri"/>
                <a:sym typeface="Calibri"/>
              </a:rPr>
              <a:t>משימה - ביצוע 📐</a:t>
            </a:r>
            <a:endParaRPr>
              <a:latin typeface="Calibri"/>
              <a:ea typeface="Calibri"/>
              <a:cs typeface="Calibri"/>
              <a:sym typeface="Calibri"/>
            </a:endParaRPr>
          </a:p>
        </p:txBody>
      </p:sp>
      <p:sp>
        <p:nvSpPr>
          <p:cNvPr id="280" name="Google Shape;280;p38"/>
          <p:cNvSpPr txBox="1"/>
          <p:nvPr>
            <p:ph idx="1" type="body"/>
          </p:nvPr>
        </p:nvSpPr>
        <p:spPr>
          <a:xfrm>
            <a:off x="819150" y="1515875"/>
            <a:ext cx="7505700" cy="3381900"/>
          </a:xfrm>
          <a:prstGeom prst="rect">
            <a:avLst/>
          </a:prstGeom>
        </p:spPr>
        <p:txBody>
          <a:bodyPr anchorCtr="0" anchor="t" bIns="91425" lIns="91425" spcFirstLastPara="1" rIns="91425" wrap="square" tIns="91425">
            <a:normAutofit/>
          </a:bodyPr>
          <a:lstStyle/>
          <a:p>
            <a:pPr indent="-311150" lvl="0" marL="457200" rtl="1" algn="r">
              <a:spcBef>
                <a:spcPts val="0"/>
              </a:spcBef>
              <a:spcAft>
                <a:spcPts val="0"/>
              </a:spcAft>
              <a:buSzPts val="1300"/>
              <a:buChar char="-"/>
            </a:pPr>
            <a:r>
              <a:rPr lang="iw"/>
              <a:t>יש להשתמש ב ai על מנת ללמוד, להבין וגם לבצע.</a:t>
            </a:r>
            <a:endParaRPr/>
          </a:p>
          <a:p>
            <a:pPr indent="-311150" lvl="0" marL="457200" rtl="1" algn="r">
              <a:spcBef>
                <a:spcPts val="0"/>
              </a:spcBef>
              <a:spcAft>
                <a:spcPts val="0"/>
              </a:spcAft>
              <a:buSzPts val="1300"/>
              <a:buChar char="-"/>
            </a:pPr>
            <a:r>
              <a:rPr lang="iw"/>
              <a:t>כל שורת קוד שנכתבה על ידי ה ai, חובה להבין היטב!</a:t>
            </a:r>
            <a:endParaRPr/>
          </a:p>
          <a:p>
            <a:pPr indent="-311150" lvl="0" marL="457200" rtl="1" algn="r">
              <a:spcBef>
                <a:spcPts val="0"/>
              </a:spcBef>
              <a:spcAft>
                <a:spcPts val="0"/>
              </a:spcAft>
              <a:buSzPts val="1300"/>
              <a:buChar char="-"/>
            </a:pPr>
            <a:r>
              <a:rPr lang="iw"/>
              <a:t>אחרי יצירת הפרויקט הבסיסי, יש להשתמש ב ai כדי לשפר את הקוד, על ידי שאלות בסגנון:</a:t>
            </a:r>
            <a:endParaRPr/>
          </a:p>
          <a:p>
            <a:pPr indent="-298450" lvl="1" marL="914400" rtl="1" algn="r">
              <a:spcBef>
                <a:spcPts val="0"/>
              </a:spcBef>
              <a:spcAft>
                <a:spcPts val="0"/>
              </a:spcAft>
              <a:buSzPts val="1100"/>
              <a:buChar char="-"/>
            </a:pPr>
            <a:r>
              <a:rPr lang="iw"/>
              <a:t>איזה שגיאות עשויות להיות בקוד?</a:t>
            </a:r>
            <a:endParaRPr/>
          </a:p>
          <a:p>
            <a:pPr indent="-298450" lvl="1" marL="914400" rtl="1" algn="r">
              <a:spcBef>
                <a:spcPts val="0"/>
              </a:spcBef>
              <a:spcAft>
                <a:spcPts val="0"/>
              </a:spcAft>
              <a:buSzPts val="1100"/>
              <a:buChar char="-"/>
            </a:pPr>
            <a:r>
              <a:rPr lang="iw"/>
              <a:t>איך אפשר לשפר?</a:t>
            </a:r>
            <a:endParaRPr/>
          </a:p>
          <a:p>
            <a:pPr indent="-298450" lvl="1" marL="914400" rtl="1" algn="r">
              <a:spcBef>
                <a:spcPts val="0"/>
              </a:spcBef>
              <a:spcAft>
                <a:spcPts val="0"/>
              </a:spcAft>
              <a:buSzPts val="1100"/>
              <a:buChar char="-"/>
            </a:pPr>
            <a:r>
              <a:rPr lang="iw"/>
              <a:t>הער לי הערות על מבנה הקוד?</a:t>
            </a:r>
            <a:endParaRPr/>
          </a:p>
          <a:p>
            <a:pPr indent="-311150" lvl="0" marL="457200" rtl="1" algn="r">
              <a:spcBef>
                <a:spcPts val="0"/>
              </a:spcBef>
              <a:spcAft>
                <a:spcPts val="0"/>
              </a:spcAft>
              <a:buSzPts val="1300"/>
              <a:buChar char="-"/>
            </a:pPr>
            <a:r>
              <a:rPr lang="iw"/>
              <a:t>הפרויקט צריך לכלול גם קובץ txt עם פרוט של פרומפטים שונים שנשלחו ל ai ודוגמאות לתשובות.</a:t>
            </a:r>
            <a:endParaRPr/>
          </a:p>
          <a:p>
            <a:pPr indent="-311150" lvl="0" marL="457200" rtl="1" algn="r">
              <a:spcBef>
                <a:spcPts val="0"/>
              </a:spcBef>
              <a:spcAft>
                <a:spcPts val="0"/>
              </a:spcAft>
              <a:buSzPts val="1300"/>
              <a:buChar char="-"/>
            </a:pPr>
            <a:r>
              <a:rPr lang="iw"/>
              <a:t>על כל הקוד להיכתב על ידי ai.</a:t>
            </a:r>
            <a:endParaRPr/>
          </a:p>
          <a:p>
            <a:pPr indent="-311150" lvl="0" marL="457200" rtl="1" algn="r">
              <a:spcBef>
                <a:spcPts val="0"/>
              </a:spcBef>
              <a:spcAft>
                <a:spcPts val="0"/>
              </a:spcAft>
              <a:buSzPts val="1300"/>
              <a:buChar char="-"/>
            </a:pPr>
            <a:r>
              <a:rPr lang="iw"/>
              <a:t>אין לכתוב את כל הקוד בפקודה אחת, תהליך הכתיבה על ידי ai חייב להיות מחולק ל6 שלבים לפחות! (לדוגמא: התקנת ספרית express, יצירת שרת בסיסי ב express, חלוקה לקבצים, תמיכה ב routes השונים, בדיקה שהמידע חוזר בדיוק איך שהוא צריך לחזור, בקשה לתיקון ושינוי של שורות קוד מסוימות.</a:t>
            </a:r>
            <a:endParaRPr/>
          </a:p>
          <a:p>
            <a:pPr indent="-311150" lvl="0" marL="457200" rtl="1" algn="r">
              <a:spcBef>
                <a:spcPts val="0"/>
              </a:spcBef>
              <a:spcAft>
                <a:spcPts val="0"/>
              </a:spcAft>
              <a:buSzPts val="1300"/>
              <a:buChar char="-"/>
            </a:pPr>
            <a:r>
              <a:rPr lang="iw"/>
              <a:t>חובה לראות בפרויקט שספרית express מותקנת.</a:t>
            </a:r>
            <a:endParaRPr/>
          </a:p>
          <a:p>
            <a:pPr indent="-311150" lvl="0" marL="457200" rtl="1" algn="r">
              <a:spcBef>
                <a:spcPts val="0"/>
              </a:spcBef>
              <a:spcAft>
                <a:spcPts val="0"/>
              </a:spcAft>
              <a:buSzPts val="1300"/>
              <a:buChar char="-"/>
            </a:pPr>
            <a:r>
              <a:rPr lang="iw"/>
              <a:t>יש להעלות את הקוד בקומיט נוסף בגיט על הפרויט משיעור קודם.</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39"/>
          <p:cNvSpPr txBox="1"/>
          <p:nvPr>
            <p:ph type="ctrTitle"/>
          </p:nvPr>
        </p:nvSpPr>
        <p:spPr>
          <a:xfrm>
            <a:off x="1858703" y="1822833"/>
            <a:ext cx="5361300" cy="1448100"/>
          </a:xfrm>
          <a:prstGeom prst="rect">
            <a:avLst/>
          </a:prstGeom>
        </p:spPr>
        <p:txBody>
          <a:bodyPr anchorCtr="0" anchor="ctr" bIns="91425" lIns="91425" spcFirstLastPara="1" rIns="91425" wrap="square" tIns="91425">
            <a:normAutofit/>
          </a:bodyPr>
          <a:lstStyle/>
          <a:p>
            <a:pPr indent="0" lvl="0" marL="0" rtl="1" algn="ctr">
              <a:spcBef>
                <a:spcPts val="0"/>
              </a:spcBef>
              <a:spcAft>
                <a:spcPts val="0"/>
              </a:spcAft>
              <a:buNone/>
            </a:pPr>
            <a:r>
              <a:rPr lang="iw"/>
              <a:t>שיעור 3</a:t>
            </a:r>
            <a:endParaRPr/>
          </a:p>
        </p:txBody>
      </p:sp>
      <p:sp>
        <p:nvSpPr>
          <p:cNvPr id="286" name="Google Shape;286;p39"/>
          <p:cNvSpPr txBox="1"/>
          <p:nvPr>
            <p:ph idx="1" type="subTitle"/>
          </p:nvPr>
        </p:nvSpPr>
        <p:spPr>
          <a:xfrm>
            <a:off x="1858700" y="3413158"/>
            <a:ext cx="5361300" cy="522600"/>
          </a:xfrm>
          <a:prstGeom prst="rect">
            <a:avLst/>
          </a:prstGeom>
        </p:spPr>
        <p:txBody>
          <a:bodyPr anchorCtr="0" anchor="t" bIns="91425" lIns="91425" spcFirstLastPara="1" rIns="91425" wrap="square" tIns="91425">
            <a:normAutofit fontScale="85000" lnSpcReduction="20000"/>
          </a:bodyPr>
          <a:lstStyle/>
          <a:p>
            <a:pPr indent="0" lvl="0" marL="0" rtl="0" algn="ctr">
              <a:spcBef>
                <a:spcPts val="0"/>
              </a:spcBef>
              <a:spcAft>
                <a:spcPts val="0"/>
              </a:spcAft>
              <a:buNone/>
            </a:pPr>
            <a:r>
              <a:rPr lang="iw"/>
              <a:t>rest api &amp; crud</a:t>
            </a:r>
            <a:endParaRPr/>
          </a:p>
          <a:p>
            <a:pPr indent="0" lvl="0" marL="0" rtl="1" algn="ctr">
              <a:spcBef>
                <a:spcPts val="0"/>
              </a:spcBef>
              <a:spcAft>
                <a:spcPts val="0"/>
              </a:spcAft>
              <a:buNone/>
            </a:pPr>
            <a:r>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40"/>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t>נושאי השיעור</a:t>
            </a:r>
            <a:endParaRPr/>
          </a:p>
        </p:txBody>
      </p:sp>
      <p:sp>
        <p:nvSpPr>
          <p:cNvPr id="292" name="Google Shape;292;p40"/>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311150" lvl="0" marL="457200" rtl="1" algn="r">
              <a:spcBef>
                <a:spcPts val="0"/>
              </a:spcBef>
              <a:spcAft>
                <a:spcPts val="0"/>
              </a:spcAft>
              <a:buSzPts val="1300"/>
              <a:buChar char="-"/>
            </a:pPr>
            <a:r>
              <a:rPr lang="iw"/>
              <a:t>מה זה crud</a:t>
            </a:r>
            <a:endParaRPr/>
          </a:p>
          <a:p>
            <a:pPr indent="-311150" lvl="0" marL="457200" rtl="1" algn="r">
              <a:spcBef>
                <a:spcPts val="0"/>
              </a:spcBef>
              <a:spcAft>
                <a:spcPts val="0"/>
              </a:spcAft>
              <a:buSzPts val="1300"/>
              <a:buChar char="-"/>
            </a:pPr>
            <a:r>
              <a:rPr lang="iw"/>
              <a:t>מה זה rest</a:t>
            </a:r>
            <a:endParaRPr/>
          </a:p>
          <a:p>
            <a:pPr indent="-311150" lvl="0" marL="457200" rtl="1" algn="r">
              <a:spcBef>
                <a:spcPts val="0"/>
              </a:spcBef>
              <a:spcAft>
                <a:spcPts val="0"/>
              </a:spcAft>
              <a:buSzPts val="1300"/>
              <a:buChar char="-"/>
            </a:pPr>
            <a:r>
              <a:rPr lang="iw"/>
              <a:t>הכרות עם מתודות http השונות</a:t>
            </a:r>
            <a:endParaRPr/>
          </a:p>
          <a:p>
            <a:pPr indent="-311150" lvl="0" marL="457200" rtl="1" algn="r">
              <a:spcBef>
                <a:spcPts val="0"/>
              </a:spcBef>
              <a:spcAft>
                <a:spcPts val="0"/>
              </a:spcAft>
              <a:buSzPts val="1300"/>
              <a:buChar char="-"/>
            </a:pPr>
            <a:r>
              <a:rPr lang="iw"/>
              <a:t>העברת פרמטרים ב url של הקריאה</a:t>
            </a:r>
            <a:endParaRPr/>
          </a:p>
          <a:p>
            <a:pPr indent="-311150" lvl="0" marL="457200" rtl="1" algn="r">
              <a:spcBef>
                <a:spcPts val="0"/>
              </a:spcBef>
              <a:spcAft>
                <a:spcPts val="0"/>
              </a:spcAft>
              <a:buSzPts val="1300"/>
              <a:buChar char="-"/>
            </a:pPr>
            <a:r>
              <a:rPr lang="iw"/>
              <a:t>בניית rest full api ב express</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41"/>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latin typeface="Calibri"/>
                <a:ea typeface="Calibri"/>
                <a:cs typeface="Calibri"/>
                <a:sym typeface="Calibri"/>
              </a:rPr>
              <a:t>מה זה crud?</a:t>
            </a:r>
            <a:endParaRPr>
              <a:latin typeface="Calibri"/>
              <a:ea typeface="Calibri"/>
              <a:cs typeface="Calibri"/>
              <a:sym typeface="Calibri"/>
            </a:endParaRPr>
          </a:p>
        </p:txBody>
      </p:sp>
      <p:sp>
        <p:nvSpPr>
          <p:cNvPr id="298" name="Google Shape;298;p41"/>
          <p:cNvSpPr txBox="1"/>
          <p:nvPr>
            <p:ph idx="1" type="body"/>
          </p:nvPr>
        </p:nvSpPr>
        <p:spPr>
          <a:xfrm>
            <a:off x="819150" y="1420825"/>
            <a:ext cx="7505700" cy="3364500"/>
          </a:xfrm>
          <a:prstGeom prst="rect">
            <a:avLst/>
          </a:prstGeom>
        </p:spPr>
        <p:txBody>
          <a:bodyPr anchorCtr="0" anchor="t" bIns="91425" lIns="91425" spcFirstLastPara="1" rIns="91425" wrap="square" tIns="91425">
            <a:normAutofit lnSpcReduction="10000"/>
          </a:bodyPr>
          <a:lstStyle/>
          <a:p>
            <a:pPr indent="0" lvl="0" marL="0" rtl="1" algn="r">
              <a:spcBef>
                <a:spcPts val="0"/>
              </a:spcBef>
              <a:spcAft>
                <a:spcPts val="0"/>
              </a:spcAft>
              <a:buNone/>
            </a:pPr>
            <a:r>
              <a:rPr lang="iw"/>
              <a:t>בשיעורים קודמים נלמד בסיס של קריאות שרת.</a:t>
            </a:r>
            <a:endParaRPr/>
          </a:p>
          <a:p>
            <a:pPr indent="0" lvl="0" marL="0" rtl="1" algn="r">
              <a:spcBef>
                <a:spcPts val="400"/>
              </a:spcBef>
              <a:spcAft>
                <a:spcPts val="0"/>
              </a:spcAft>
              <a:buNone/>
            </a:pPr>
            <a:r>
              <a:rPr lang="iw"/>
              <a:t>עד כה, כל הקריאות היו מסוג get: כלומר קריאות להחזיר נתונים מהשרת.</a:t>
            </a:r>
            <a:endParaRPr/>
          </a:p>
          <a:p>
            <a:pPr indent="0" lvl="0" marL="0" rtl="1" algn="r">
              <a:spcBef>
                <a:spcPts val="400"/>
              </a:spcBef>
              <a:spcAft>
                <a:spcPts val="0"/>
              </a:spcAft>
              <a:buNone/>
            </a:pPr>
            <a:r>
              <a:rPr lang="iw"/>
              <a:t>בצד שרת אמיתי, יש קריאות מסוגים שונים שמתארים פעולות שונות בשרת.</a:t>
            </a:r>
            <a:endParaRPr/>
          </a:p>
          <a:p>
            <a:pPr indent="0" lvl="0" marL="0" rtl="1" algn="r">
              <a:spcBef>
                <a:spcPts val="400"/>
              </a:spcBef>
              <a:spcAft>
                <a:spcPts val="0"/>
              </a:spcAft>
              <a:buNone/>
            </a:pPr>
            <a:r>
              <a:rPr lang="iw"/>
              <a:t>המונח crud מתאר את הפעולות הבסיסיות שמתבצעות על נתונים בשרת:</a:t>
            </a:r>
            <a:endParaRPr/>
          </a:p>
          <a:p>
            <a:pPr indent="0" lvl="0" marL="0" rtl="0" algn="l">
              <a:spcBef>
                <a:spcPts val="400"/>
              </a:spcBef>
              <a:spcAft>
                <a:spcPts val="0"/>
              </a:spcAft>
              <a:buNone/>
            </a:pPr>
            <a:r>
              <a:rPr lang="iw"/>
              <a:t>Create - יצירה של נתונים (לדוגמא - הוספת קורס</a:t>
            </a:r>
            <a:endParaRPr/>
          </a:p>
          <a:p>
            <a:pPr indent="0" lvl="0" marL="0" rtl="0" algn="l">
              <a:spcBef>
                <a:spcPts val="400"/>
              </a:spcBef>
              <a:spcAft>
                <a:spcPts val="0"/>
              </a:spcAft>
              <a:buNone/>
            </a:pPr>
            <a:r>
              <a:rPr lang="iw"/>
              <a:t>Read - קריאה של נתונים - לדוגמא: לקבל את רשימת הקורסים, או לקבל קורס בודד</a:t>
            </a:r>
            <a:endParaRPr/>
          </a:p>
          <a:p>
            <a:pPr indent="0" lvl="0" marL="0" rtl="0" algn="l">
              <a:spcBef>
                <a:spcPts val="400"/>
              </a:spcBef>
              <a:spcAft>
                <a:spcPts val="0"/>
              </a:spcAft>
              <a:buNone/>
            </a:pPr>
            <a:r>
              <a:rPr lang="iw"/>
              <a:t>Update</a:t>
            </a:r>
            <a:r>
              <a:rPr lang="iw"/>
              <a:t> - עדכון נתון, לדוגמא עדכון שם הקורס</a:t>
            </a:r>
            <a:endParaRPr/>
          </a:p>
          <a:p>
            <a:pPr indent="0" lvl="0" marL="0" rtl="0" algn="l">
              <a:spcBef>
                <a:spcPts val="400"/>
              </a:spcBef>
              <a:spcAft>
                <a:spcPts val="0"/>
              </a:spcAft>
              <a:buNone/>
            </a:pPr>
            <a:r>
              <a:rPr lang="iw"/>
              <a:t>Delete - מחיקת נתון, לדוגמא מחיקת קורס</a:t>
            </a:r>
            <a:endParaRPr/>
          </a:p>
          <a:p>
            <a:pPr indent="0" lvl="0" marL="0" rtl="1" algn="r">
              <a:spcBef>
                <a:spcPts val="400"/>
              </a:spcBef>
              <a:spcAft>
                <a:spcPts val="0"/>
              </a:spcAft>
              <a:buNone/>
            </a:pPr>
            <a:r>
              <a:rPr lang="iw"/>
              <a:t>בדרך כלל, צד שרת יאפשר את כל הפעולות הנל על מגוון של ישויות שונות בשרת.</a:t>
            </a:r>
            <a:endParaRPr/>
          </a:p>
          <a:p>
            <a:pPr indent="0" lvl="0" marL="0" rtl="1" algn="r">
              <a:spcBef>
                <a:spcPts val="400"/>
              </a:spcBef>
              <a:spcAft>
                <a:spcPts val="0"/>
              </a:spcAft>
              <a:buNone/>
            </a:pPr>
            <a:r>
              <a:rPr lang="iw"/>
              <a:t>בקשי מה ai שיסביר לך עוד על crud</a:t>
            </a:r>
            <a:endParaRPr/>
          </a:p>
          <a:p>
            <a:pPr indent="0" lvl="0" marL="0" rtl="1" algn="r">
              <a:spcBef>
                <a:spcPts val="400"/>
              </a:spcBef>
              <a:spcAft>
                <a:spcPts val="0"/>
              </a:spcAft>
              <a:buNone/>
            </a:pPr>
            <a:r>
              <a:rPr lang="iw"/>
              <a:t>פרומפט לדוגמא:</a:t>
            </a:r>
            <a:endParaRPr/>
          </a:p>
          <a:p>
            <a:pPr indent="0" lvl="0" marL="0" rtl="0" algn="l">
              <a:spcBef>
                <a:spcPts val="400"/>
              </a:spcBef>
              <a:spcAft>
                <a:spcPts val="0"/>
              </a:spcAft>
              <a:buNone/>
            </a:pPr>
            <a:r>
              <a:rPr lang="iw"/>
              <a:t>Explain what CRUD means in backend development.</a:t>
            </a:r>
            <a:endParaRPr/>
          </a:p>
          <a:p>
            <a:pPr indent="0" lvl="0" marL="0" rtl="0" algn="l">
              <a:spcBef>
                <a:spcPts val="400"/>
              </a:spcBef>
              <a:spcAft>
                <a:spcPts val="0"/>
              </a:spcAft>
              <a:buNone/>
            </a:pPr>
            <a:r>
              <a:rPr lang="iw"/>
              <a:t>Explain why almost every backend application needs CRUD operations.</a:t>
            </a:r>
            <a:endParaRPr/>
          </a:p>
          <a:p>
            <a:pPr indent="0" lvl="0" marL="0" rtl="0" algn="l">
              <a:spcBef>
                <a:spcPts val="400"/>
              </a:spcBef>
              <a:spcAft>
                <a:spcPts val="400"/>
              </a:spcAft>
              <a:buNone/>
            </a:pPr>
            <a:r>
              <a:rPr lang="iw"/>
              <a:t>Explain CRUD using a course management system. do not write code</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2"/>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w">
                <a:latin typeface="Calibri"/>
                <a:ea typeface="Calibri"/>
                <a:cs typeface="Calibri"/>
                <a:sym typeface="Calibri"/>
              </a:rPr>
              <a:t>Http Methods</a:t>
            </a:r>
            <a:endParaRPr>
              <a:latin typeface="Calibri"/>
              <a:ea typeface="Calibri"/>
              <a:cs typeface="Calibri"/>
              <a:sym typeface="Calibri"/>
            </a:endParaRPr>
          </a:p>
        </p:txBody>
      </p:sp>
      <p:sp>
        <p:nvSpPr>
          <p:cNvPr id="304" name="Google Shape;304;p42"/>
          <p:cNvSpPr txBox="1"/>
          <p:nvPr>
            <p:ph idx="1" type="body"/>
          </p:nvPr>
        </p:nvSpPr>
        <p:spPr>
          <a:xfrm>
            <a:off x="819150" y="1420825"/>
            <a:ext cx="7505700" cy="3364500"/>
          </a:xfrm>
          <a:prstGeom prst="rect">
            <a:avLst/>
          </a:prstGeom>
        </p:spPr>
        <p:txBody>
          <a:bodyPr anchorCtr="0" anchor="t" bIns="91425" lIns="91425" spcFirstLastPara="1" rIns="91425" wrap="square" tIns="91425">
            <a:normAutofit fontScale="85000" lnSpcReduction="20000"/>
          </a:bodyPr>
          <a:lstStyle/>
          <a:p>
            <a:pPr indent="0" lvl="0" marL="0" rtl="1" algn="r">
              <a:spcBef>
                <a:spcPts val="0"/>
              </a:spcBef>
              <a:spcAft>
                <a:spcPts val="0"/>
              </a:spcAft>
              <a:buNone/>
            </a:pPr>
            <a:r>
              <a:rPr lang="iw"/>
              <a:t>כאשר מפנים קריאה לשרת,</a:t>
            </a:r>
            <a:endParaRPr/>
          </a:p>
          <a:p>
            <a:pPr indent="0" lvl="0" marL="0" rtl="1" algn="r">
              <a:spcBef>
                <a:spcPts val="400"/>
              </a:spcBef>
              <a:spcAft>
                <a:spcPts val="0"/>
              </a:spcAft>
              <a:buNone/>
            </a:pPr>
            <a:r>
              <a:rPr lang="iw"/>
              <a:t>כל קריאה מורכבת משני חלקים עיקריים:</a:t>
            </a:r>
            <a:endParaRPr/>
          </a:p>
          <a:p>
            <a:pPr indent="0" lvl="0" marL="0" rtl="1" algn="r">
              <a:spcBef>
                <a:spcPts val="400"/>
              </a:spcBef>
              <a:spcAft>
                <a:spcPts val="0"/>
              </a:spcAft>
              <a:buNone/>
            </a:pPr>
            <a:r>
              <a:rPr lang="iw"/>
              <a:t>הכתובת של הקריאה, לדוגמא: </a:t>
            </a:r>
            <a:r>
              <a:rPr lang="iw" u="sng">
                <a:solidFill>
                  <a:schemeClr val="hlink"/>
                </a:solidFill>
                <a:hlinkClick r:id="rId3"/>
              </a:rPr>
              <a:t>http://localhost:3000/courses</a:t>
            </a:r>
            <a:r>
              <a:rPr lang="iw"/>
              <a:t>, והמתודה של הקריאה.</a:t>
            </a:r>
            <a:endParaRPr/>
          </a:p>
          <a:p>
            <a:pPr indent="0" lvl="0" marL="0" rtl="1" algn="r">
              <a:spcBef>
                <a:spcPts val="400"/>
              </a:spcBef>
              <a:spcAft>
                <a:spcPts val="0"/>
              </a:spcAft>
              <a:buNone/>
            </a:pPr>
            <a:r>
              <a:rPr lang="iw"/>
              <a:t>שרת יכול לתמוך במספר קריאות שונות עם ניווט זהה, אבל מתודה שונה.</a:t>
            </a:r>
            <a:endParaRPr/>
          </a:p>
          <a:p>
            <a:pPr indent="0" lvl="0" marL="0" rtl="1" algn="r">
              <a:spcBef>
                <a:spcPts val="400"/>
              </a:spcBef>
              <a:spcAft>
                <a:spcPts val="0"/>
              </a:spcAft>
              <a:buNone/>
            </a:pPr>
            <a:r>
              <a:rPr lang="iw"/>
              <a:t>המתודה מגדירה את סוג הקריאה ואת הפעולה המרכזית שתתבצע בה, חשוב מאוד להשתמש תמיד במתודה המתאימה.</a:t>
            </a:r>
            <a:endParaRPr/>
          </a:p>
          <a:p>
            <a:pPr indent="0" lvl="0" marL="0" rtl="1" algn="r">
              <a:spcBef>
                <a:spcPts val="400"/>
              </a:spcBef>
              <a:spcAft>
                <a:spcPts val="0"/>
              </a:spcAft>
              <a:buNone/>
            </a:pPr>
            <a:r>
              <a:rPr lang="iw"/>
              <a:t>המתודות השימושיות הן:</a:t>
            </a:r>
            <a:endParaRPr/>
          </a:p>
          <a:p>
            <a:pPr indent="0" lvl="0" marL="0" rtl="0" algn="l">
              <a:spcBef>
                <a:spcPts val="400"/>
              </a:spcBef>
              <a:spcAft>
                <a:spcPts val="0"/>
              </a:spcAft>
              <a:buNone/>
            </a:pPr>
            <a:r>
              <a:rPr lang="iw"/>
              <a:t>GET - בשביל לקבל נתונים</a:t>
            </a:r>
            <a:endParaRPr/>
          </a:p>
          <a:p>
            <a:pPr indent="0" lvl="0" marL="0" rtl="0" algn="l">
              <a:spcBef>
                <a:spcPts val="400"/>
              </a:spcBef>
              <a:spcAft>
                <a:spcPts val="0"/>
              </a:spcAft>
              <a:buNone/>
            </a:pPr>
            <a:r>
              <a:rPr lang="iw"/>
              <a:t>POST - בשביל יצירת נתונים </a:t>
            </a:r>
            <a:endParaRPr/>
          </a:p>
          <a:p>
            <a:pPr indent="0" lvl="0" marL="0" rtl="0" algn="l">
              <a:spcBef>
                <a:spcPts val="400"/>
              </a:spcBef>
              <a:spcAft>
                <a:spcPts val="0"/>
              </a:spcAft>
              <a:buNone/>
            </a:pPr>
            <a:r>
              <a:rPr lang="iw"/>
              <a:t>PUT - בשביל עדכון</a:t>
            </a:r>
            <a:endParaRPr/>
          </a:p>
          <a:p>
            <a:pPr indent="0" lvl="0" marL="0" rtl="0" algn="l">
              <a:spcBef>
                <a:spcPts val="400"/>
              </a:spcBef>
              <a:spcAft>
                <a:spcPts val="0"/>
              </a:spcAft>
              <a:buNone/>
            </a:pPr>
            <a:r>
              <a:rPr lang="iw"/>
              <a:t>DELETE - מתודה עבור מחיקה</a:t>
            </a:r>
            <a:endParaRPr/>
          </a:p>
          <a:p>
            <a:pPr indent="0" lvl="0" marL="0" rtl="1" algn="r">
              <a:spcBef>
                <a:spcPts val="400"/>
              </a:spcBef>
              <a:spcAft>
                <a:spcPts val="0"/>
              </a:spcAft>
              <a:buNone/>
            </a:pPr>
            <a:r>
              <a:t/>
            </a:r>
            <a:endParaRPr/>
          </a:p>
          <a:p>
            <a:pPr indent="0" lvl="0" marL="0" rtl="1" algn="r">
              <a:spcBef>
                <a:spcPts val="400"/>
              </a:spcBef>
              <a:spcAft>
                <a:spcPts val="0"/>
              </a:spcAft>
              <a:buNone/>
            </a:pPr>
            <a:r>
              <a:rPr lang="iw"/>
              <a:t>בקשי מה ai שיסביר לך עוד על http request</a:t>
            </a:r>
            <a:endParaRPr/>
          </a:p>
          <a:p>
            <a:pPr indent="0" lvl="0" marL="0" rtl="1" algn="r">
              <a:spcBef>
                <a:spcPts val="400"/>
              </a:spcBef>
              <a:spcAft>
                <a:spcPts val="0"/>
              </a:spcAft>
              <a:buNone/>
            </a:pPr>
            <a:r>
              <a:rPr lang="iw"/>
              <a:t>פרומפט לדוגמא:</a:t>
            </a:r>
            <a:endParaRPr/>
          </a:p>
          <a:p>
            <a:pPr indent="0" lvl="0" marL="0" rtl="0" algn="l">
              <a:spcBef>
                <a:spcPts val="400"/>
              </a:spcBef>
              <a:spcAft>
                <a:spcPts val="0"/>
              </a:spcAft>
              <a:buNone/>
            </a:pPr>
            <a:r>
              <a:rPr lang="iw"/>
              <a:t>Explain GET, POST, PUT and DELETE.</a:t>
            </a:r>
            <a:endParaRPr/>
          </a:p>
          <a:p>
            <a:pPr indent="0" lvl="0" marL="0" rtl="0" algn="l">
              <a:spcBef>
                <a:spcPts val="400"/>
              </a:spcBef>
              <a:spcAft>
                <a:spcPts val="0"/>
              </a:spcAft>
              <a:buNone/>
            </a:pPr>
            <a:r>
              <a:rPr lang="iw"/>
              <a:t>Give one practical example for each method.</a:t>
            </a:r>
            <a:endParaRPr/>
          </a:p>
          <a:p>
            <a:pPr indent="0" lvl="0" marL="0" rtl="0" algn="l">
              <a:spcBef>
                <a:spcPts val="400"/>
              </a:spcBef>
              <a:spcAft>
                <a:spcPts val="400"/>
              </a:spcAft>
              <a:buNone/>
            </a:pPr>
            <a:r>
              <a:rPr lang="iw"/>
              <a:t>Do not use Express code.</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43"/>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latin typeface="Calibri"/>
                <a:ea typeface="Calibri"/>
                <a:cs typeface="Calibri"/>
                <a:sym typeface="Calibri"/>
              </a:rPr>
              <a:t>מה זה Rest Api?</a:t>
            </a:r>
            <a:endParaRPr>
              <a:latin typeface="Calibri"/>
              <a:ea typeface="Calibri"/>
              <a:cs typeface="Calibri"/>
              <a:sym typeface="Calibri"/>
            </a:endParaRPr>
          </a:p>
        </p:txBody>
      </p:sp>
      <p:sp>
        <p:nvSpPr>
          <p:cNvPr id="310" name="Google Shape;310;p43"/>
          <p:cNvSpPr txBox="1"/>
          <p:nvPr>
            <p:ph idx="1" type="body"/>
          </p:nvPr>
        </p:nvSpPr>
        <p:spPr>
          <a:xfrm>
            <a:off x="819150" y="1420825"/>
            <a:ext cx="7505700" cy="3364500"/>
          </a:xfrm>
          <a:prstGeom prst="rect">
            <a:avLst/>
          </a:prstGeom>
        </p:spPr>
        <p:txBody>
          <a:bodyPr anchorCtr="0" anchor="t" bIns="91425" lIns="91425" spcFirstLastPara="1" rIns="91425" wrap="square" tIns="91425">
            <a:normAutofit fontScale="92500" lnSpcReduction="20000"/>
          </a:bodyPr>
          <a:lstStyle/>
          <a:p>
            <a:pPr indent="0" lvl="0" marL="0" rtl="1" algn="r">
              <a:spcBef>
                <a:spcPts val="0"/>
              </a:spcBef>
              <a:spcAft>
                <a:spcPts val="0"/>
              </a:spcAft>
              <a:buNone/>
            </a:pPr>
            <a:r>
              <a:rPr lang="iw"/>
              <a:t>בפיתוח צד שרת, יש לתכנן מראש את כל הקריאות api שהשרת תומך בהן.</a:t>
            </a:r>
            <a:endParaRPr/>
          </a:p>
          <a:p>
            <a:pPr indent="0" lvl="0" marL="0" rtl="1" algn="r">
              <a:spcBef>
                <a:spcPts val="400"/>
              </a:spcBef>
              <a:spcAft>
                <a:spcPts val="0"/>
              </a:spcAft>
              <a:buNone/>
            </a:pPr>
            <a:r>
              <a:rPr lang="iw"/>
              <a:t>בדרך כלל צד שרת יאפשר פעולות שונות על משאבים שונים.</a:t>
            </a:r>
            <a:endParaRPr/>
          </a:p>
          <a:p>
            <a:pPr indent="0" lvl="0" marL="0" rtl="1" algn="r">
              <a:spcBef>
                <a:spcPts val="400"/>
              </a:spcBef>
              <a:spcAft>
                <a:spcPts val="0"/>
              </a:spcAft>
              <a:buNone/>
            </a:pPr>
            <a:r>
              <a:rPr lang="iw"/>
              <a:t>לדוגמא: יצירת קורס, עדכון מוצר, לקבל את רשימת המורות, ביטול של תור וכדו׳.</a:t>
            </a:r>
            <a:endParaRPr/>
          </a:p>
          <a:p>
            <a:pPr indent="0" lvl="0" marL="0" rtl="1" algn="r">
              <a:spcBef>
                <a:spcPts val="400"/>
              </a:spcBef>
              <a:spcAft>
                <a:spcPts val="0"/>
              </a:spcAft>
              <a:buNone/>
            </a:pPr>
            <a:r>
              <a:rPr lang="iw"/>
              <a:t>המונח rest api מתאר ארכיטקטורת שרת מסוימת ומקובלת מאוד בתעשייה, איך להגדיר את הקריאות הנל.</a:t>
            </a:r>
            <a:endParaRPr/>
          </a:p>
          <a:p>
            <a:pPr indent="0" lvl="0" marL="0" rtl="1" algn="r">
              <a:spcBef>
                <a:spcPts val="400"/>
              </a:spcBef>
              <a:spcAft>
                <a:spcPts val="0"/>
              </a:spcAft>
              <a:buNone/>
            </a:pPr>
            <a:r>
              <a:rPr lang="iw"/>
              <a:t>בפיתוח שרת מסוג rest, קריאת api תהיה מורכבת משם של המתודה (get post put delete) והשם של המשאב שעליו נעשית הפעולה. והניווט של הקריאה לא יכיל שם עצם או תאור על המהות.</a:t>
            </a:r>
            <a:endParaRPr/>
          </a:p>
          <a:p>
            <a:pPr indent="0" lvl="0" marL="0" rtl="1" algn="r">
              <a:spcBef>
                <a:spcPts val="400"/>
              </a:spcBef>
              <a:spcAft>
                <a:spcPts val="0"/>
              </a:spcAft>
              <a:buNone/>
            </a:pPr>
            <a:r>
              <a:rPr lang="iw"/>
              <a:t>לדוגמא, בשביל להגדיר קריאת api בשביל למחוק מוצר, במקום להגדיר:</a:t>
            </a:r>
            <a:endParaRPr/>
          </a:p>
          <a:p>
            <a:pPr indent="0" lvl="0" marL="0" rtl="0" algn="l">
              <a:spcBef>
                <a:spcPts val="400"/>
              </a:spcBef>
              <a:spcAft>
                <a:spcPts val="0"/>
              </a:spcAft>
              <a:buNone/>
            </a:pPr>
            <a:r>
              <a:rPr lang="iw"/>
              <a:t>DELETE  </a:t>
            </a:r>
            <a:r>
              <a:rPr lang="iw" u="sng">
                <a:solidFill>
                  <a:schemeClr val="hlink"/>
                </a:solidFill>
                <a:hlinkClick r:id="rId3"/>
              </a:rPr>
              <a:t>http://localhost:3000/deleteOneProductFromStore</a:t>
            </a:r>
            <a:endParaRPr/>
          </a:p>
          <a:p>
            <a:pPr indent="0" lvl="0" marL="0" rtl="1" algn="r">
              <a:spcBef>
                <a:spcPts val="400"/>
              </a:spcBef>
              <a:spcAft>
                <a:spcPts val="0"/>
              </a:spcAft>
              <a:buNone/>
            </a:pPr>
            <a:r>
              <a:rPr lang="iw"/>
              <a:t>אלא רק</a:t>
            </a:r>
            <a:endParaRPr/>
          </a:p>
          <a:p>
            <a:pPr indent="0" lvl="0" marL="0" rtl="0" algn="l">
              <a:spcBef>
                <a:spcPts val="400"/>
              </a:spcBef>
              <a:spcAft>
                <a:spcPts val="0"/>
              </a:spcAft>
              <a:buNone/>
            </a:pPr>
            <a:r>
              <a:rPr lang="iw"/>
              <a:t>DELETE </a:t>
            </a:r>
            <a:r>
              <a:rPr lang="iw" u="sng">
                <a:solidFill>
                  <a:schemeClr val="hlink"/>
                </a:solidFill>
                <a:hlinkClick r:id="rId4"/>
              </a:rPr>
              <a:t>http://localhost:3000/product</a:t>
            </a:r>
            <a:endParaRPr/>
          </a:p>
          <a:p>
            <a:pPr indent="0" lvl="0" marL="0" rtl="1" algn="r">
              <a:spcBef>
                <a:spcPts val="400"/>
              </a:spcBef>
              <a:spcAft>
                <a:spcPts val="0"/>
              </a:spcAft>
              <a:buNone/>
            </a:pPr>
            <a:r>
              <a:rPr lang="iw"/>
              <a:t>במקום יצירה של קורס בצורה הזו: POST </a:t>
            </a:r>
            <a:r>
              <a:rPr lang="iw" u="sng">
                <a:solidFill>
                  <a:schemeClr val="hlink"/>
                </a:solidFill>
                <a:hlinkClick r:id="rId5"/>
              </a:rPr>
              <a:t>http://localhost:3000/createNewCourse</a:t>
            </a:r>
            <a:endParaRPr/>
          </a:p>
          <a:p>
            <a:pPr indent="0" lvl="0" marL="0" rtl="1" algn="r">
              <a:spcBef>
                <a:spcPts val="400"/>
              </a:spcBef>
              <a:spcAft>
                <a:spcPts val="0"/>
              </a:spcAft>
              <a:buNone/>
            </a:pPr>
            <a:r>
              <a:rPr lang="iw"/>
              <a:t>יש להגדיר: POST </a:t>
            </a:r>
            <a:r>
              <a:rPr lang="iw" u="sng">
                <a:solidFill>
                  <a:schemeClr val="hlink"/>
                </a:solidFill>
                <a:hlinkClick r:id="rId6"/>
              </a:rPr>
              <a:t>http://localhost:3000/course</a:t>
            </a:r>
            <a:r>
              <a:rPr lang="iw"/>
              <a:t> </a:t>
            </a:r>
            <a:endParaRPr/>
          </a:p>
          <a:p>
            <a:pPr indent="0" lvl="0" marL="0" rtl="1" algn="r">
              <a:spcBef>
                <a:spcPts val="400"/>
              </a:spcBef>
              <a:spcAft>
                <a:spcPts val="0"/>
              </a:spcAft>
              <a:buNone/>
            </a:pPr>
            <a:r>
              <a:rPr lang="iw"/>
              <a:t>בקשי מה ai שיסביר לך עוד על rest api</a:t>
            </a:r>
            <a:endParaRPr/>
          </a:p>
          <a:p>
            <a:pPr indent="0" lvl="0" marL="0" rtl="1" algn="r">
              <a:spcBef>
                <a:spcPts val="400"/>
              </a:spcBef>
              <a:spcAft>
                <a:spcPts val="0"/>
              </a:spcAft>
              <a:buNone/>
            </a:pPr>
            <a:r>
              <a:rPr lang="iw"/>
              <a:t>פרומפט לדוגמא:</a:t>
            </a:r>
            <a:endParaRPr/>
          </a:p>
          <a:p>
            <a:pPr indent="0" lvl="0" marL="0" rtl="0" algn="l">
              <a:spcBef>
                <a:spcPts val="400"/>
              </a:spcBef>
              <a:spcAft>
                <a:spcPts val="0"/>
              </a:spcAft>
              <a:buNone/>
            </a:pPr>
            <a:r>
              <a:rPr lang="iw"/>
              <a:t>Explain REST APIs to a beginner.</a:t>
            </a:r>
            <a:endParaRPr/>
          </a:p>
          <a:p>
            <a:pPr indent="0" lvl="0" marL="0" rtl="0" algn="l">
              <a:spcBef>
                <a:spcPts val="400"/>
              </a:spcBef>
              <a:spcAft>
                <a:spcPts val="400"/>
              </a:spcAft>
              <a:buNone/>
            </a:pPr>
            <a:r>
              <a:rPr lang="iw"/>
              <a:t>Focus on why HTTP methods are used instead of action names in URLs.</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4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latin typeface="Calibri"/>
                <a:ea typeface="Calibri"/>
                <a:cs typeface="Calibri"/>
                <a:sym typeface="Calibri"/>
              </a:rPr>
              <a:t>תכנון rest api - הגדרת resources</a:t>
            </a:r>
            <a:endParaRPr>
              <a:latin typeface="Calibri"/>
              <a:ea typeface="Calibri"/>
              <a:cs typeface="Calibri"/>
              <a:sym typeface="Calibri"/>
            </a:endParaRPr>
          </a:p>
        </p:txBody>
      </p:sp>
      <p:sp>
        <p:nvSpPr>
          <p:cNvPr id="316" name="Google Shape;316;p44"/>
          <p:cNvSpPr txBox="1"/>
          <p:nvPr>
            <p:ph idx="1" type="body"/>
          </p:nvPr>
        </p:nvSpPr>
        <p:spPr>
          <a:xfrm>
            <a:off x="819150" y="1420825"/>
            <a:ext cx="7505700" cy="3364500"/>
          </a:xfrm>
          <a:prstGeom prst="rect">
            <a:avLst/>
          </a:prstGeom>
        </p:spPr>
        <p:txBody>
          <a:bodyPr anchorCtr="0" anchor="t" bIns="91425" lIns="91425" spcFirstLastPara="1" rIns="91425" wrap="square" tIns="91425">
            <a:normAutofit fontScale="62500" lnSpcReduction="20000"/>
          </a:bodyPr>
          <a:lstStyle/>
          <a:p>
            <a:pPr indent="0" lvl="0" marL="0" rtl="1" algn="r">
              <a:spcBef>
                <a:spcPts val="0"/>
              </a:spcBef>
              <a:spcAft>
                <a:spcPts val="0"/>
              </a:spcAft>
              <a:buNone/>
            </a:pPr>
            <a:r>
              <a:rPr lang="iw"/>
              <a:t>בתכנון צד שרת שבנוי בארכיטקטורת rest api, כאשר מתכננים את הקריאות שהשרת תומך בהם,</a:t>
            </a:r>
            <a:endParaRPr/>
          </a:p>
          <a:p>
            <a:pPr indent="0" lvl="0" marL="0" rtl="1" algn="r">
              <a:spcBef>
                <a:spcPts val="400"/>
              </a:spcBef>
              <a:spcAft>
                <a:spcPts val="0"/>
              </a:spcAft>
              <a:buNone/>
            </a:pPr>
            <a:r>
              <a:rPr lang="iw"/>
              <a:t>יש להגדיר: משאבים ופעולות.</a:t>
            </a:r>
            <a:endParaRPr/>
          </a:p>
          <a:p>
            <a:pPr indent="0" lvl="0" marL="0" rtl="1" algn="r">
              <a:spcBef>
                <a:spcPts val="400"/>
              </a:spcBef>
              <a:spcAft>
                <a:spcPts val="0"/>
              </a:spcAft>
              <a:buNone/>
            </a:pPr>
            <a:r>
              <a:rPr lang="iw"/>
              <a:t>משאבים הם הישויות של המערכת, ולכל משאב יש את הפעולות השונות שהוא צריך לתמוך בהם.</a:t>
            </a:r>
            <a:endParaRPr/>
          </a:p>
          <a:p>
            <a:pPr indent="0" lvl="0" marL="0" rtl="1" algn="r">
              <a:spcBef>
                <a:spcPts val="400"/>
              </a:spcBef>
              <a:spcAft>
                <a:spcPts val="0"/>
              </a:spcAft>
              <a:buNone/>
            </a:pPr>
            <a:r>
              <a:rPr lang="iw"/>
              <a:t>לדוגמא, בפרויקט הליווי של הקורס, המשאבים (resources) הם קורסים, תלמידים, ורישום לקורס.</a:t>
            </a:r>
            <a:endParaRPr/>
          </a:p>
          <a:p>
            <a:pPr indent="0" lvl="0" marL="0" rtl="1" algn="r">
              <a:spcBef>
                <a:spcPts val="400"/>
              </a:spcBef>
              <a:spcAft>
                <a:spcPts val="0"/>
              </a:spcAft>
              <a:buNone/>
            </a:pPr>
            <a:r>
              <a:rPr lang="iw"/>
              <a:t>ולכל אחד מהמשאבים נרצה את כל הפעולות - לקבל רשימה, לקבל פריט בודד, יצירה עדכון מחיקה.</a:t>
            </a:r>
            <a:endParaRPr/>
          </a:p>
          <a:p>
            <a:pPr indent="0" lvl="0" marL="0" rtl="1" algn="r">
              <a:spcBef>
                <a:spcPts val="400"/>
              </a:spcBef>
              <a:spcAft>
                <a:spcPts val="0"/>
              </a:spcAft>
              <a:buNone/>
            </a:pPr>
            <a:r>
              <a:rPr lang="iw"/>
              <a:t>לכן יש לתכנן מראש שהפרויקט אמור לכלול את הקריאות הבאות:</a:t>
            </a:r>
            <a:endParaRPr/>
          </a:p>
          <a:p>
            <a:pPr indent="0" lvl="0" marL="0" rtl="0" algn="l">
              <a:spcBef>
                <a:spcPts val="400"/>
              </a:spcBef>
              <a:spcAft>
                <a:spcPts val="0"/>
              </a:spcAft>
              <a:buNone/>
            </a:pPr>
            <a:r>
              <a:rPr lang="iw"/>
              <a:t>GET /courses - קבלת רשימת הקורסים</a:t>
            </a:r>
            <a:endParaRPr/>
          </a:p>
          <a:p>
            <a:pPr indent="0" lvl="0" marL="0" rtl="0" algn="l">
              <a:spcBef>
                <a:spcPts val="400"/>
              </a:spcBef>
              <a:spcAft>
                <a:spcPts val="0"/>
              </a:spcAft>
              <a:buNone/>
            </a:pPr>
            <a:r>
              <a:rPr lang="iw"/>
              <a:t>GET /course/:id - קבלה של קורס בודד, יש לשלוח את ה מזהה של הקורס המבוקש</a:t>
            </a:r>
            <a:endParaRPr/>
          </a:p>
          <a:p>
            <a:pPr indent="0" lvl="0" marL="0" rtl="0" algn="l">
              <a:spcBef>
                <a:spcPts val="400"/>
              </a:spcBef>
              <a:spcAft>
                <a:spcPts val="0"/>
              </a:spcAft>
              <a:buNone/>
            </a:pPr>
            <a:r>
              <a:rPr lang="iw"/>
              <a:t>POST /</a:t>
            </a:r>
            <a:r>
              <a:rPr lang="iw"/>
              <a:t>course - יצירה של קורס</a:t>
            </a:r>
            <a:endParaRPr/>
          </a:p>
          <a:p>
            <a:pPr indent="0" lvl="0" marL="0" rtl="0" algn="l">
              <a:spcBef>
                <a:spcPts val="400"/>
              </a:spcBef>
              <a:spcAft>
                <a:spcPts val="0"/>
              </a:spcAft>
              <a:buNone/>
            </a:pPr>
            <a:r>
              <a:rPr lang="iw"/>
              <a:t>PUT /course/:id - עדכון של קורס, יש לשלוח את המזהה של הקורס המבוקש</a:t>
            </a:r>
            <a:endParaRPr/>
          </a:p>
          <a:p>
            <a:pPr indent="0" lvl="0" marL="0" rtl="0" algn="l">
              <a:spcBef>
                <a:spcPts val="400"/>
              </a:spcBef>
              <a:spcAft>
                <a:spcPts val="0"/>
              </a:spcAft>
              <a:buNone/>
            </a:pPr>
            <a:r>
              <a:rPr lang="iw"/>
              <a:t>DELETE /course/:id - מחיקה של קורס, יש לשלוח את המזהה של הקורס המבוקש</a:t>
            </a:r>
            <a:endParaRPr/>
          </a:p>
          <a:p>
            <a:pPr indent="0" lvl="0" marL="0" rtl="0" algn="l">
              <a:spcBef>
                <a:spcPts val="400"/>
              </a:spcBef>
              <a:spcAft>
                <a:spcPts val="0"/>
              </a:spcAft>
              <a:buNone/>
            </a:pPr>
            <a:r>
              <a:rPr lang="iw"/>
              <a:t>GET /subscriptions - לקבל את רשימת הרישומים לקורס </a:t>
            </a:r>
            <a:endParaRPr/>
          </a:p>
          <a:p>
            <a:pPr indent="0" lvl="0" marL="0" rtl="1" algn="r">
              <a:spcBef>
                <a:spcPts val="400"/>
              </a:spcBef>
              <a:spcAft>
                <a:spcPts val="0"/>
              </a:spcAft>
              <a:buNone/>
            </a:pPr>
            <a:r>
              <a:rPr lang="iw"/>
              <a:t> וכן הלאה לכל המשאבים כל הפעולות.</a:t>
            </a:r>
            <a:endParaRPr/>
          </a:p>
          <a:p>
            <a:pPr indent="0" lvl="0" marL="0" rtl="1" algn="r">
              <a:spcBef>
                <a:spcPts val="400"/>
              </a:spcBef>
              <a:spcAft>
                <a:spcPts val="0"/>
              </a:spcAft>
              <a:buNone/>
            </a:pPr>
            <a:r>
              <a:rPr lang="iw"/>
              <a:t>אגב, את הרישום אפשר להגדיר בצורה קצת שונה:</a:t>
            </a:r>
            <a:endParaRPr/>
          </a:p>
          <a:p>
            <a:pPr indent="0" lvl="0" marL="0" rtl="0" algn="l">
              <a:spcBef>
                <a:spcPts val="400"/>
              </a:spcBef>
              <a:spcAft>
                <a:spcPts val="0"/>
              </a:spcAft>
              <a:buNone/>
            </a:pPr>
            <a:r>
              <a:rPr lang="iw"/>
              <a:t>GET /courses/:id/subscriptions - מחזיר את רשימת הרישומים לקורס מסוים.</a:t>
            </a:r>
            <a:endParaRPr/>
          </a:p>
          <a:p>
            <a:pPr indent="0" lvl="0" marL="0" rtl="1" algn="r">
              <a:spcBef>
                <a:spcPts val="400"/>
              </a:spcBef>
              <a:spcAft>
                <a:spcPts val="0"/>
              </a:spcAft>
              <a:buNone/>
            </a:pPr>
            <a:r>
              <a:t/>
            </a:r>
            <a:endParaRPr/>
          </a:p>
          <a:p>
            <a:pPr indent="0" lvl="0" marL="0" rtl="1" algn="r">
              <a:spcBef>
                <a:spcPts val="400"/>
              </a:spcBef>
              <a:spcAft>
                <a:spcPts val="0"/>
              </a:spcAft>
              <a:buNone/>
            </a:pPr>
            <a:r>
              <a:rPr lang="iw"/>
              <a:t>בקשי מה ai שיסביר לך עוד על תכנון api נכון ב rest api</a:t>
            </a:r>
            <a:endParaRPr/>
          </a:p>
          <a:p>
            <a:pPr indent="0" lvl="0" marL="0" rtl="1" algn="r">
              <a:spcBef>
                <a:spcPts val="400"/>
              </a:spcBef>
              <a:spcAft>
                <a:spcPts val="0"/>
              </a:spcAft>
              <a:buNone/>
            </a:pPr>
            <a:r>
              <a:rPr lang="iw"/>
              <a:t>פרומפט לדוגמא:</a:t>
            </a:r>
            <a:endParaRPr/>
          </a:p>
          <a:p>
            <a:pPr indent="0" lvl="0" marL="0" rtl="0" algn="l">
              <a:spcBef>
                <a:spcPts val="400"/>
              </a:spcBef>
              <a:spcAft>
                <a:spcPts val="0"/>
              </a:spcAft>
              <a:buNone/>
            </a:pPr>
            <a:r>
              <a:rPr lang="iw"/>
              <a:t>Design a REST API for managing books.</a:t>
            </a:r>
            <a:endParaRPr/>
          </a:p>
          <a:p>
            <a:pPr indent="0" lvl="0" marL="0" rtl="0" algn="l">
              <a:spcBef>
                <a:spcPts val="400"/>
              </a:spcBef>
              <a:spcAft>
                <a:spcPts val="0"/>
              </a:spcAft>
              <a:buNone/>
            </a:pPr>
            <a:r>
              <a:rPr lang="iw"/>
              <a:t>List only the endpoints and HTTP methods.</a:t>
            </a:r>
            <a:endParaRPr/>
          </a:p>
          <a:p>
            <a:pPr indent="0" lvl="0" marL="0" rtl="0" algn="l">
              <a:spcBef>
                <a:spcPts val="400"/>
              </a:spcBef>
              <a:spcAft>
                <a:spcPts val="400"/>
              </a:spcAft>
              <a:buNone/>
            </a:pPr>
            <a:r>
              <a:rPr lang="iw"/>
              <a:t>Do not write code.</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45"/>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latin typeface="Calibri"/>
                <a:ea typeface="Calibri"/>
                <a:cs typeface="Calibri"/>
                <a:sym typeface="Calibri"/>
              </a:rPr>
              <a:t>קבלת מידע בקריאת שרת	 </a:t>
            </a:r>
            <a:endParaRPr>
              <a:latin typeface="Calibri"/>
              <a:ea typeface="Calibri"/>
              <a:cs typeface="Calibri"/>
              <a:sym typeface="Calibri"/>
            </a:endParaRPr>
          </a:p>
        </p:txBody>
      </p:sp>
      <p:sp>
        <p:nvSpPr>
          <p:cNvPr id="322" name="Google Shape;322;p45"/>
          <p:cNvSpPr txBox="1"/>
          <p:nvPr>
            <p:ph idx="1" type="body"/>
          </p:nvPr>
        </p:nvSpPr>
        <p:spPr>
          <a:xfrm>
            <a:off x="819150" y="1420825"/>
            <a:ext cx="7505700" cy="3364500"/>
          </a:xfrm>
          <a:prstGeom prst="rect">
            <a:avLst/>
          </a:prstGeom>
        </p:spPr>
        <p:txBody>
          <a:bodyPr anchorCtr="0" anchor="t" bIns="91425" lIns="91425" spcFirstLastPara="1" rIns="91425" wrap="square" tIns="91425">
            <a:normAutofit fontScale="77500" lnSpcReduction="20000"/>
          </a:bodyPr>
          <a:lstStyle/>
          <a:p>
            <a:pPr indent="0" lvl="0" marL="0" rtl="1" algn="r">
              <a:spcBef>
                <a:spcPts val="0"/>
              </a:spcBef>
              <a:spcAft>
                <a:spcPts val="0"/>
              </a:spcAft>
              <a:buNone/>
            </a:pPr>
            <a:r>
              <a:rPr lang="iw"/>
              <a:t>הרבה מאוד מקריאות שרת אמורות להעביר מידע לשרת.</a:t>
            </a:r>
            <a:endParaRPr/>
          </a:p>
          <a:p>
            <a:pPr indent="0" lvl="0" marL="0" rtl="1" algn="r">
              <a:spcBef>
                <a:spcPts val="400"/>
              </a:spcBef>
              <a:spcAft>
                <a:spcPts val="0"/>
              </a:spcAft>
              <a:buNone/>
            </a:pPr>
            <a:r>
              <a:rPr lang="iw"/>
              <a:t>אפשר להתייחס לשני סוגים בסיסיים של מידע שצריך להעביר:</a:t>
            </a:r>
            <a:endParaRPr/>
          </a:p>
          <a:p>
            <a:pPr indent="-292576" lvl="0" marL="457200" rtl="1" algn="r">
              <a:spcBef>
                <a:spcPts val="400"/>
              </a:spcBef>
              <a:spcAft>
                <a:spcPts val="0"/>
              </a:spcAft>
              <a:buSzPct val="100000"/>
              <a:buChar char="-"/>
            </a:pPr>
            <a:r>
              <a:rPr lang="iw"/>
              <a:t>מיהו המשאב שאליו הקריאה מתייחסת? איזה קורס רוצים לקבל, ואיזה מוצר רוצים למחוק?</a:t>
            </a:r>
            <a:endParaRPr/>
          </a:p>
          <a:p>
            <a:pPr indent="-292576" lvl="0" marL="457200" rtl="1" algn="r">
              <a:spcBef>
                <a:spcPts val="0"/>
              </a:spcBef>
              <a:spcAft>
                <a:spcPts val="0"/>
              </a:spcAft>
              <a:buSzPct val="100000"/>
              <a:buChar char="-"/>
            </a:pPr>
            <a:r>
              <a:rPr lang="iw"/>
              <a:t>פרטי מידע שקשורים לתוכן הקריאה עצמה, לדוגמא: פרטי המוצר שרוצים ליצור, או את השדות שרוצים לשנות בקורס.</a:t>
            </a:r>
            <a:endParaRPr/>
          </a:p>
          <a:p>
            <a:pPr indent="0" lvl="0" marL="0" rtl="1" algn="r">
              <a:spcBef>
                <a:spcPts val="400"/>
              </a:spcBef>
              <a:spcAft>
                <a:spcPts val="0"/>
              </a:spcAft>
              <a:buNone/>
            </a:pPr>
            <a:r>
              <a:rPr lang="iw"/>
              <a:t>כל אחד מסוגי המידע הנ״ל מועבר בצורה שונה. פרטי זהות על המשאב מועברים כחלק משורת הקריאה,</a:t>
            </a:r>
            <a:endParaRPr/>
          </a:p>
          <a:p>
            <a:pPr indent="0" lvl="0" marL="0" rtl="1" algn="r">
              <a:spcBef>
                <a:spcPts val="400"/>
              </a:spcBef>
              <a:spcAft>
                <a:spcPts val="0"/>
              </a:spcAft>
              <a:buNone/>
            </a:pPr>
            <a:r>
              <a:rPr lang="iw"/>
              <a:t>לדוגמא הקריאה: </a:t>
            </a:r>
            <a:r>
              <a:rPr lang="iw" u="sng">
                <a:solidFill>
                  <a:schemeClr val="hlink"/>
                </a:solidFill>
                <a:hlinkClick r:id="rId3"/>
              </a:rPr>
              <a:t>http://localhost:3000/courses/4</a:t>
            </a:r>
            <a:r>
              <a:rPr lang="iw"/>
              <a:t> אמורה להחזיר את הקורס שה id שלו הוא 4.</a:t>
            </a:r>
            <a:endParaRPr/>
          </a:p>
          <a:p>
            <a:pPr indent="0" lvl="0" marL="0" rtl="1" algn="r">
              <a:spcBef>
                <a:spcPts val="400"/>
              </a:spcBef>
              <a:spcAft>
                <a:spcPts val="0"/>
              </a:spcAft>
              <a:buNone/>
            </a:pPr>
            <a:r>
              <a:rPr lang="iw"/>
              <a:t>לעומת זאת, פרטים שקשורים לתוכן הקריאה מועברים בצורה שונה, דרך ״גוף הקריאה״ - body, ואינם חלק משורת ה url. (בשיעור קודם הוסבר איך מעבירים את הנ״ל בתוכנת  postman)</a:t>
            </a:r>
            <a:endParaRPr/>
          </a:p>
          <a:p>
            <a:pPr indent="0" lvl="0" marL="0" rtl="1" algn="r">
              <a:spcBef>
                <a:spcPts val="400"/>
              </a:spcBef>
              <a:spcAft>
                <a:spcPts val="0"/>
              </a:spcAft>
              <a:buNone/>
            </a:pPr>
            <a:r>
              <a:rPr lang="iw"/>
              <a:t>בצד השרת, יש לחלץ את המידע הזה מהקריאה.</a:t>
            </a:r>
            <a:endParaRPr/>
          </a:p>
          <a:p>
            <a:pPr indent="0" lvl="0" marL="0" rtl="1" algn="r">
              <a:spcBef>
                <a:spcPts val="400"/>
              </a:spcBef>
              <a:spcAft>
                <a:spcPts val="0"/>
              </a:spcAft>
              <a:buNone/>
            </a:pPr>
            <a:r>
              <a:rPr lang="iw"/>
              <a:t>בשימוש ב node + express, בהגדרת כל קריאה יש פונקציה שמקבלת את המשתנים req , res. המשתנה req מכיל מידע אודות הקריאה שנשלחה.</a:t>
            </a:r>
            <a:endParaRPr/>
          </a:p>
          <a:p>
            <a:pPr indent="0" lvl="0" marL="0" rtl="1" algn="r">
              <a:spcBef>
                <a:spcPts val="400"/>
              </a:spcBef>
              <a:spcAft>
                <a:spcPts val="0"/>
              </a:spcAft>
              <a:buNone/>
            </a:pPr>
            <a:r>
              <a:rPr lang="iw"/>
              <a:t>פרמטרים שנשלחו ב url, שמיועדים כדי לזהות את האוביקט, נמצאים במשתנה req.params,</a:t>
            </a:r>
            <a:endParaRPr/>
          </a:p>
          <a:p>
            <a:pPr indent="0" lvl="0" marL="0" rtl="1" algn="r">
              <a:spcBef>
                <a:spcPts val="400"/>
              </a:spcBef>
              <a:spcAft>
                <a:spcPts val="0"/>
              </a:spcAft>
              <a:buNone/>
            </a:pPr>
            <a:r>
              <a:rPr lang="iw"/>
              <a:t>ופרמטרים שנשלחים כגוף הקריאה נלקחים מהמשתנה req.body.</a:t>
            </a:r>
            <a:endParaRPr/>
          </a:p>
          <a:p>
            <a:pPr indent="0" lvl="0" marL="0" rtl="1" algn="r">
              <a:spcBef>
                <a:spcPts val="400"/>
              </a:spcBef>
              <a:spcAft>
                <a:spcPts val="0"/>
              </a:spcAft>
              <a:buNone/>
            </a:pPr>
            <a:r>
              <a:rPr lang="iw"/>
              <a:t>-- רק קריאות מסוג post ו put מכילות את גוף הקריאה!</a:t>
            </a:r>
            <a:endParaRPr/>
          </a:p>
          <a:p>
            <a:pPr indent="0" lvl="0" marL="0" rtl="1" algn="r">
              <a:spcBef>
                <a:spcPts val="400"/>
              </a:spcBef>
              <a:spcAft>
                <a:spcPts val="0"/>
              </a:spcAft>
              <a:buNone/>
            </a:pPr>
            <a:r>
              <a:rPr lang="iw"/>
              <a:t>בקשי מה ai שיסביר לך עוד על חילוץ מידע בשרת המבוסס express</a:t>
            </a:r>
            <a:endParaRPr/>
          </a:p>
          <a:p>
            <a:pPr indent="0" lvl="0" marL="0" rtl="1" algn="r">
              <a:spcBef>
                <a:spcPts val="400"/>
              </a:spcBef>
              <a:spcAft>
                <a:spcPts val="0"/>
              </a:spcAft>
              <a:buNone/>
            </a:pPr>
            <a:r>
              <a:rPr lang="iw"/>
              <a:t>פרומפט לדוגמא:</a:t>
            </a:r>
            <a:endParaRPr/>
          </a:p>
          <a:p>
            <a:pPr indent="0" lvl="0" marL="0" rtl="0" algn="l">
              <a:spcBef>
                <a:spcPts val="400"/>
              </a:spcBef>
              <a:spcAft>
                <a:spcPts val="0"/>
              </a:spcAft>
              <a:buNone/>
            </a:pPr>
            <a:r>
              <a:rPr lang="iw"/>
              <a:t>In Express, explain req.params and req.body.</a:t>
            </a:r>
            <a:endParaRPr/>
          </a:p>
          <a:p>
            <a:pPr indent="0" lvl="0" marL="0" rtl="0" algn="l">
              <a:spcBef>
                <a:spcPts val="400"/>
              </a:spcBef>
              <a:spcAft>
                <a:spcPts val="0"/>
              </a:spcAft>
              <a:buNone/>
            </a:pPr>
            <a:r>
              <a:rPr lang="iw"/>
              <a:t>Describe when each one is used.</a:t>
            </a:r>
            <a:endParaRPr/>
          </a:p>
          <a:p>
            <a:pPr indent="0" lvl="0" marL="0" rtl="0" algn="l">
              <a:spcBef>
                <a:spcPts val="400"/>
              </a:spcBef>
              <a:spcAft>
                <a:spcPts val="400"/>
              </a:spcAft>
              <a:buNone/>
            </a:pPr>
            <a:r>
              <a:rPr lang="iw"/>
              <a:t>Do not explain query parameters.</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4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latin typeface="Calibri"/>
                <a:ea typeface="Calibri"/>
                <a:cs typeface="Calibri"/>
                <a:sym typeface="Calibri"/>
              </a:rPr>
              <a:t>מימוש קריאות get ב express</a:t>
            </a:r>
            <a:endParaRPr>
              <a:latin typeface="Calibri"/>
              <a:ea typeface="Calibri"/>
              <a:cs typeface="Calibri"/>
              <a:sym typeface="Calibri"/>
            </a:endParaRPr>
          </a:p>
        </p:txBody>
      </p:sp>
      <p:sp>
        <p:nvSpPr>
          <p:cNvPr id="328" name="Google Shape;328;p46"/>
          <p:cNvSpPr txBox="1"/>
          <p:nvPr>
            <p:ph idx="1" type="body"/>
          </p:nvPr>
        </p:nvSpPr>
        <p:spPr>
          <a:xfrm>
            <a:off x="819150" y="1420825"/>
            <a:ext cx="7505700" cy="3364500"/>
          </a:xfrm>
          <a:prstGeom prst="rect">
            <a:avLst/>
          </a:prstGeom>
        </p:spPr>
        <p:txBody>
          <a:bodyPr anchorCtr="0" anchor="t" bIns="91425" lIns="91425" spcFirstLastPara="1" rIns="91425" wrap="square" tIns="91425">
            <a:normAutofit fontScale="77500" lnSpcReduction="20000"/>
          </a:bodyPr>
          <a:lstStyle/>
          <a:p>
            <a:pPr indent="0" lvl="0" marL="0" rtl="1" algn="r">
              <a:spcBef>
                <a:spcPts val="0"/>
              </a:spcBef>
              <a:spcAft>
                <a:spcPts val="0"/>
              </a:spcAft>
              <a:buNone/>
            </a:pPr>
            <a:r>
              <a:rPr lang="iw"/>
              <a:t>קריאות get  אמורות להחזיר נתונים.</a:t>
            </a:r>
            <a:endParaRPr/>
          </a:p>
          <a:p>
            <a:pPr indent="0" lvl="0" marL="0" rtl="1" algn="r">
              <a:spcBef>
                <a:spcPts val="400"/>
              </a:spcBef>
              <a:spcAft>
                <a:spcPts val="0"/>
              </a:spcAft>
              <a:buNone/>
            </a:pPr>
            <a:r>
              <a:rPr lang="iw"/>
              <a:t>הן מוגדרות בצורה:</a:t>
            </a:r>
            <a:endParaRPr/>
          </a:p>
          <a:p>
            <a:pPr indent="0" lvl="0" marL="0" rtl="0" algn="l">
              <a:spcBef>
                <a:spcPts val="400"/>
              </a:spcBef>
              <a:spcAft>
                <a:spcPts val="0"/>
              </a:spcAft>
              <a:buNone/>
            </a:pPr>
            <a:r>
              <a:rPr lang="iw"/>
              <a:t>app.get()</a:t>
            </a:r>
            <a:endParaRPr/>
          </a:p>
          <a:p>
            <a:pPr indent="0" lvl="0" marL="0" rtl="1" algn="r">
              <a:spcBef>
                <a:spcPts val="400"/>
              </a:spcBef>
              <a:spcAft>
                <a:spcPts val="0"/>
              </a:spcAft>
              <a:buNone/>
            </a:pPr>
            <a:r>
              <a:rPr lang="iw"/>
              <a:t>הפונקציה מקבלת שני פרמטרים, את הניווט ואת הפונקציה של הקריאה.</a:t>
            </a:r>
            <a:endParaRPr/>
          </a:p>
          <a:p>
            <a:pPr indent="0" lvl="0" marL="0" rtl="1" algn="r">
              <a:spcBef>
                <a:spcPts val="400"/>
              </a:spcBef>
              <a:spcAft>
                <a:spcPts val="0"/>
              </a:spcAft>
              <a:buNone/>
            </a:pPr>
            <a:r>
              <a:rPr lang="iw"/>
              <a:t>יש קריאות שאמורות להחזיר מערך נתונים - כמו שנלמד בשיעור קודם,</a:t>
            </a:r>
            <a:endParaRPr/>
          </a:p>
          <a:p>
            <a:pPr indent="0" lvl="0" marL="0" rtl="1" algn="r">
              <a:spcBef>
                <a:spcPts val="400"/>
              </a:spcBef>
              <a:spcAft>
                <a:spcPts val="0"/>
              </a:spcAft>
              <a:buNone/>
            </a:pPr>
            <a:r>
              <a:rPr lang="iw"/>
              <a:t>ויש קריאות שאמורות להחזיר פריט אחד בודד.</a:t>
            </a:r>
            <a:endParaRPr/>
          </a:p>
          <a:p>
            <a:pPr indent="0" lvl="0" marL="0" rtl="1" algn="r">
              <a:spcBef>
                <a:spcPts val="400"/>
              </a:spcBef>
              <a:spcAft>
                <a:spcPts val="0"/>
              </a:spcAft>
              <a:buNone/>
            </a:pPr>
            <a:r>
              <a:rPr lang="iw"/>
              <a:t>בכזה מקרה הניווט יכלול גם פרמטר - משתנה</a:t>
            </a:r>
            <a:endParaRPr/>
          </a:p>
          <a:p>
            <a:pPr indent="0" lvl="0" marL="0" rtl="1" algn="r">
              <a:spcBef>
                <a:spcPts val="400"/>
              </a:spcBef>
              <a:spcAft>
                <a:spcPts val="0"/>
              </a:spcAft>
              <a:buNone/>
            </a:pPr>
            <a:r>
              <a:rPr lang="iw"/>
              <a:t>לדוגמא: </a:t>
            </a:r>
            <a:endParaRPr/>
          </a:p>
          <a:p>
            <a:pPr indent="0" lvl="0" marL="0" rtl="0" algn="l">
              <a:spcBef>
                <a:spcPts val="400"/>
              </a:spcBef>
              <a:spcAft>
                <a:spcPts val="0"/>
              </a:spcAft>
              <a:buNone/>
            </a:pPr>
            <a:r>
              <a:rPr lang="iw"/>
              <a:t>app.get(‘/course/:id’ () =&gt; {})</a:t>
            </a:r>
            <a:endParaRPr/>
          </a:p>
          <a:p>
            <a:pPr indent="0" lvl="0" marL="0" rtl="1" algn="r">
              <a:spcBef>
                <a:spcPts val="400"/>
              </a:spcBef>
              <a:spcAft>
                <a:spcPts val="0"/>
              </a:spcAft>
              <a:buNone/>
            </a:pPr>
            <a:r>
              <a:rPr lang="iw"/>
              <a:t>ההגדרה של ה id עם : לפני השם, מרמזת שמדובר בפרמטר, השימוש בקריאה הזו יהיה לדוגמא:</a:t>
            </a:r>
            <a:endParaRPr/>
          </a:p>
          <a:p>
            <a:pPr indent="0" lvl="0" marL="0" rtl="0" algn="l">
              <a:spcBef>
                <a:spcPts val="400"/>
              </a:spcBef>
              <a:spcAft>
                <a:spcPts val="0"/>
              </a:spcAft>
              <a:buNone/>
            </a:pPr>
            <a:r>
              <a:rPr lang="iw" u="sng">
                <a:solidFill>
                  <a:schemeClr val="hlink"/>
                </a:solidFill>
                <a:hlinkClick r:id="rId3"/>
              </a:rPr>
              <a:t>http://localhost:3000/course/4</a:t>
            </a:r>
            <a:endParaRPr/>
          </a:p>
          <a:p>
            <a:pPr indent="0" lvl="0" marL="0" rtl="1" algn="r">
              <a:spcBef>
                <a:spcPts val="400"/>
              </a:spcBef>
              <a:spcAft>
                <a:spcPts val="0"/>
              </a:spcAft>
              <a:buNone/>
            </a:pPr>
            <a:r>
              <a:rPr lang="iw"/>
              <a:t>ולא עם המילה id.</a:t>
            </a:r>
            <a:endParaRPr/>
          </a:p>
          <a:p>
            <a:pPr indent="0" lvl="0" marL="0" rtl="1" algn="r">
              <a:spcBef>
                <a:spcPts val="400"/>
              </a:spcBef>
              <a:spcAft>
                <a:spcPts val="0"/>
              </a:spcAft>
              <a:buNone/>
            </a:pPr>
            <a:r>
              <a:t/>
            </a:r>
            <a:endParaRPr/>
          </a:p>
          <a:p>
            <a:pPr indent="0" lvl="0" marL="0" rtl="1" algn="r">
              <a:spcBef>
                <a:spcPts val="400"/>
              </a:spcBef>
              <a:spcAft>
                <a:spcPts val="0"/>
              </a:spcAft>
              <a:buNone/>
            </a:pPr>
            <a:r>
              <a:rPr lang="iw"/>
              <a:t>בקשי מה ai שיסביר לך עוד על קריאות  get ב  express</a:t>
            </a:r>
            <a:endParaRPr/>
          </a:p>
          <a:p>
            <a:pPr indent="0" lvl="0" marL="0" rtl="1" algn="r">
              <a:spcBef>
                <a:spcPts val="400"/>
              </a:spcBef>
              <a:spcAft>
                <a:spcPts val="0"/>
              </a:spcAft>
              <a:buNone/>
            </a:pPr>
            <a:r>
              <a:rPr lang="iw"/>
              <a:t>פרומפט לדוגמא:</a:t>
            </a:r>
            <a:endParaRPr/>
          </a:p>
          <a:p>
            <a:pPr indent="0" lvl="0" marL="0" rtl="0" algn="l">
              <a:spcBef>
                <a:spcPts val="400"/>
              </a:spcBef>
              <a:spcAft>
                <a:spcPts val="0"/>
              </a:spcAft>
              <a:buNone/>
            </a:pPr>
            <a:r>
              <a:rPr lang="iw"/>
              <a:t>Show how GET routes are implemented in Express.</a:t>
            </a:r>
            <a:endParaRPr/>
          </a:p>
          <a:p>
            <a:pPr indent="0" lvl="0" marL="0" rtl="0" algn="l">
              <a:spcBef>
                <a:spcPts val="400"/>
              </a:spcBef>
              <a:spcAft>
                <a:spcPts val="0"/>
              </a:spcAft>
              <a:buNone/>
            </a:pPr>
            <a:r>
              <a:rPr lang="iw"/>
              <a:t>Include one example that returns all objects and another that uses req.params.</a:t>
            </a:r>
            <a:endParaRPr/>
          </a:p>
          <a:p>
            <a:pPr indent="0" lvl="0" marL="0" rtl="0" algn="l">
              <a:spcBef>
                <a:spcPts val="400"/>
              </a:spcBef>
              <a:spcAft>
                <a:spcPts val="400"/>
              </a:spcAft>
              <a:buNone/>
            </a:pPr>
            <a:r>
              <a:rPr lang="iw"/>
              <a:t>Explain each example.</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47"/>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latin typeface="Calibri"/>
                <a:ea typeface="Calibri"/>
                <a:cs typeface="Calibri"/>
                <a:sym typeface="Calibri"/>
              </a:rPr>
              <a:t>מימוש קריאות post put delete ב express</a:t>
            </a:r>
            <a:endParaRPr>
              <a:latin typeface="Calibri"/>
              <a:ea typeface="Calibri"/>
              <a:cs typeface="Calibri"/>
              <a:sym typeface="Calibri"/>
            </a:endParaRPr>
          </a:p>
        </p:txBody>
      </p:sp>
      <p:sp>
        <p:nvSpPr>
          <p:cNvPr id="334" name="Google Shape;334;p47"/>
          <p:cNvSpPr txBox="1"/>
          <p:nvPr>
            <p:ph idx="1" type="body"/>
          </p:nvPr>
        </p:nvSpPr>
        <p:spPr>
          <a:xfrm>
            <a:off x="819150" y="1420825"/>
            <a:ext cx="7505700" cy="3364500"/>
          </a:xfrm>
          <a:prstGeom prst="rect">
            <a:avLst/>
          </a:prstGeom>
        </p:spPr>
        <p:txBody>
          <a:bodyPr anchorCtr="0" anchor="t" bIns="91425" lIns="91425" spcFirstLastPara="1" rIns="91425" wrap="square" tIns="91425">
            <a:normAutofit fontScale="77500" lnSpcReduction="10000"/>
          </a:bodyPr>
          <a:lstStyle/>
          <a:p>
            <a:pPr indent="0" lvl="0" marL="0" rtl="1" algn="r">
              <a:spcBef>
                <a:spcPts val="0"/>
              </a:spcBef>
              <a:spcAft>
                <a:spcPts val="0"/>
              </a:spcAft>
              <a:buNone/>
            </a:pPr>
            <a:r>
              <a:rPr lang="iw"/>
              <a:t>קריאות post מיועדות ליצירה של מידע חדש, והן מוגדרות על ידי הפונקציה  </a:t>
            </a:r>
            <a:endParaRPr/>
          </a:p>
          <a:p>
            <a:pPr indent="0" lvl="0" marL="0" rtl="0" algn="l">
              <a:spcBef>
                <a:spcPts val="400"/>
              </a:spcBef>
              <a:spcAft>
                <a:spcPts val="0"/>
              </a:spcAft>
              <a:buNone/>
            </a:pPr>
            <a:r>
              <a:rPr lang="iw" u="sng">
                <a:solidFill>
                  <a:schemeClr val="hlink"/>
                </a:solidFill>
                <a:hlinkClick r:id="rId3"/>
              </a:rPr>
              <a:t>app.post</a:t>
            </a:r>
            <a:r>
              <a:rPr lang="iw"/>
              <a:t>()</a:t>
            </a:r>
            <a:endParaRPr/>
          </a:p>
          <a:p>
            <a:pPr indent="0" lvl="0" marL="0" rtl="1" algn="r">
              <a:spcBef>
                <a:spcPts val="400"/>
              </a:spcBef>
              <a:spcAft>
                <a:spcPts val="0"/>
              </a:spcAft>
              <a:buNone/>
            </a:pPr>
            <a:r>
              <a:rPr lang="iw"/>
              <a:t>קריאות put מיועדות לעדכון, והן מוגדרות על ידי הפונקציה</a:t>
            </a:r>
            <a:endParaRPr/>
          </a:p>
          <a:p>
            <a:pPr indent="0" lvl="0" marL="0" rtl="0" algn="l">
              <a:spcBef>
                <a:spcPts val="400"/>
              </a:spcBef>
              <a:spcAft>
                <a:spcPts val="0"/>
              </a:spcAft>
              <a:buNone/>
            </a:pPr>
            <a:r>
              <a:rPr lang="iw"/>
              <a:t>app.put()</a:t>
            </a:r>
            <a:endParaRPr/>
          </a:p>
          <a:p>
            <a:pPr indent="0" lvl="0" marL="0" rtl="1" algn="r">
              <a:spcBef>
                <a:spcPts val="400"/>
              </a:spcBef>
              <a:spcAft>
                <a:spcPts val="0"/>
              </a:spcAft>
              <a:buNone/>
            </a:pPr>
            <a:r>
              <a:rPr lang="iw"/>
              <a:t>קריאות delete מיועדות למחיקה ומוגדרות על ידי </a:t>
            </a:r>
            <a:endParaRPr/>
          </a:p>
          <a:p>
            <a:pPr indent="0" lvl="0" marL="0" rtl="0" algn="l">
              <a:spcBef>
                <a:spcPts val="400"/>
              </a:spcBef>
              <a:spcAft>
                <a:spcPts val="0"/>
              </a:spcAft>
              <a:buNone/>
            </a:pPr>
            <a:r>
              <a:rPr lang="iw"/>
              <a:t>app.delete()</a:t>
            </a:r>
            <a:endParaRPr/>
          </a:p>
          <a:p>
            <a:pPr indent="0" lvl="0" marL="0" rtl="1" algn="r">
              <a:spcBef>
                <a:spcPts val="400"/>
              </a:spcBef>
              <a:spcAft>
                <a:spcPts val="0"/>
              </a:spcAft>
              <a:buNone/>
            </a:pPr>
            <a:r>
              <a:rPr lang="iw"/>
              <a:t>כל הקריאות מקבלות פרמטר ראשון את הניווט, ופרמטר שני את הפונקציה שמטפלת בקריאה. בקריאות put ו delete הניווט כולל גם פרמטר - מזהה - איזה אוביקט יש לעדכן? איזה אוביקט יש למחוק?</a:t>
            </a:r>
            <a:endParaRPr/>
          </a:p>
          <a:p>
            <a:pPr indent="0" lvl="0" marL="0" rtl="1" algn="r">
              <a:spcBef>
                <a:spcPts val="400"/>
              </a:spcBef>
              <a:spcAft>
                <a:spcPts val="0"/>
              </a:spcAft>
              <a:buNone/>
            </a:pPr>
            <a:r>
              <a:rPr lang="iw"/>
              <a:t>קריאות מסוג post ו put תכלולנה בדרך כלל גם את ״גוף״ הקריאה - פרטי האוביקט ליצירה או לעדכון, ואליהן יש לגשת על ידי req.body.</a:t>
            </a:r>
            <a:endParaRPr/>
          </a:p>
          <a:p>
            <a:pPr indent="0" lvl="0" marL="0" rtl="1" algn="r">
              <a:spcBef>
                <a:spcPts val="400"/>
              </a:spcBef>
              <a:spcAft>
                <a:spcPts val="0"/>
              </a:spcAft>
              <a:buNone/>
            </a:pPr>
            <a:r>
              <a:rPr b="1" lang="iw"/>
              <a:t>בשביל לחלץ את המידע, חובה להוסיף את השורה הבאה בתחילת פרויקט express, לפני ההגדרות של כל ה routes השונים: </a:t>
            </a:r>
            <a:endParaRPr b="1"/>
          </a:p>
          <a:p>
            <a:pPr indent="0" lvl="0" marL="0" rtl="0" algn="l">
              <a:spcBef>
                <a:spcPts val="400"/>
              </a:spcBef>
              <a:spcAft>
                <a:spcPts val="0"/>
              </a:spcAft>
              <a:buNone/>
            </a:pPr>
            <a:r>
              <a:rPr b="1" lang="iw"/>
              <a:t>app.use(express.json());</a:t>
            </a:r>
            <a:endParaRPr b="1"/>
          </a:p>
          <a:p>
            <a:pPr indent="0" lvl="0" marL="0" rtl="1" algn="r">
              <a:spcBef>
                <a:spcPts val="400"/>
              </a:spcBef>
              <a:spcAft>
                <a:spcPts val="0"/>
              </a:spcAft>
              <a:buNone/>
            </a:pPr>
            <a:r>
              <a:rPr b="1" lang="iw"/>
              <a:t> </a:t>
            </a:r>
            <a:r>
              <a:rPr lang="iw"/>
              <a:t>אחרת, המשתנה req.body יהיה ריק בכל מקרה!</a:t>
            </a:r>
            <a:endParaRPr/>
          </a:p>
          <a:p>
            <a:pPr indent="0" lvl="0" marL="0" rtl="1" algn="r">
              <a:spcBef>
                <a:spcPts val="400"/>
              </a:spcBef>
              <a:spcAft>
                <a:spcPts val="0"/>
              </a:spcAft>
              <a:buNone/>
            </a:pPr>
            <a:r>
              <a:rPr lang="iw"/>
              <a:t>בקשי מה ai שיסביר לך עוד על קריאות  post put delete ב  express</a:t>
            </a:r>
            <a:endParaRPr/>
          </a:p>
          <a:p>
            <a:pPr indent="0" lvl="0" marL="0" rtl="1" algn="r">
              <a:spcBef>
                <a:spcPts val="400"/>
              </a:spcBef>
              <a:spcAft>
                <a:spcPts val="0"/>
              </a:spcAft>
              <a:buNone/>
            </a:pPr>
            <a:r>
              <a:rPr lang="iw"/>
              <a:t>פרומפט לדוגמא:</a:t>
            </a:r>
            <a:endParaRPr/>
          </a:p>
          <a:p>
            <a:pPr indent="0" lvl="0" marL="0" rtl="0" algn="l">
              <a:spcBef>
                <a:spcPts val="400"/>
              </a:spcBef>
              <a:spcAft>
                <a:spcPts val="0"/>
              </a:spcAft>
              <a:buNone/>
            </a:pPr>
            <a:r>
              <a:rPr lang="iw"/>
              <a:t>Show how POST, PUT and DELETE routes are implemented in Express.</a:t>
            </a:r>
            <a:endParaRPr/>
          </a:p>
          <a:p>
            <a:pPr indent="0" lvl="0" marL="0" rtl="0" algn="l">
              <a:spcBef>
                <a:spcPts val="400"/>
              </a:spcBef>
              <a:spcAft>
                <a:spcPts val="0"/>
              </a:spcAft>
              <a:buNone/>
            </a:pPr>
            <a:r>
              <a:rPr lang="iw"/>
              <a:t>Explain what information comes from req.params and what comes from req.body.</a:t>
            </a:r>
            <a:endParaRPr/>
          </a:p>
          <a:p>
            <a:pPr indent="0" lvl="0" marL="0" rtl="0" algn="l">
              <a:spcBef>
                <a:spcPts val="400"/>
              </a:spcBef>
              <a:spcAft>
                <a:spcPts val="400"/>
              </a:spcAft>
              <a:buNone/>
            </a:pPr>
            <a:r>
              <a:rPr lang="iw"/>
              <a:t>Do not build a complete application.</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48"/>
          <p:cNvSpPr txBox="1"/>
          <p:nvPr>
            <p:ph type="title"/>
          </p:nvPr>
        </p:nvSpPr>
        <p:spPr>
          <a:xfrm>
            <a:off x="819150" y="236650"/>
            <a:ext cx="7505700" cy="9546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latin typeface="Calibri"/>
                <a:ea typeface="Calibri"/>
                <a:cs typeface="Calibri"/>
                <a:sym typeface="Calibri"/>
              </a:rPr>
              <a:t>משימה 🔨</a:t>
            </a:r>
            <a:endParaRPr>
              <a:latin typeface="Calibri"/>
              <a:ea typeface="Calibri"/>
              <a:cs typeface="Calibri"/>
              <a:sym typeface="Calibri"/>
            </a:endParaRPr>
          </a:p>
        </p:txBody>
      </p:sp>
      <p:sp>
        <p:nvSpPr>
          <p:cNvPr id="340" name="Google Shape;340;p48"/>
          <p:cNvSpPr txBox="1"/>
          <p:nvPr>
            <p:ph idx="1" type="body"/>
          </p:nvPr>
        </p:nvSpPr>
        <p:spPr>
          <a:xfrm>
            <a:off x="819150" y="765550"/>
            <a:ext cx="7505700" cy="41106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t>בשיעור זה יש להמשיך את הפרויקט משיעור קודם:</a:t>
            </a:r>
            <a:endParaRPr/>
          </a:p>
          <a:p>
            <a:pPr indent="0" lvl="0" marL="0" rtl="1" algn="r">
              <a:spcBef>
                <a:spcPts val="400"/>
              </a:spcBef>
              <a:spcAft>
                <a:spcPts val="0"/>
              </a:spcAft>
              <a:buNone/>
            </a:pPr>
            <a:r>
              <a:rPr lang="iw"/>
              <a:t>בשיעור קודם הוגדר פרויקט בסיסי המחולק לכמה קבצים, ותומך בקריאות get בסיסיות</a:t>
            </a:r>
            <a:endParaRPr/>
          </a:p>
          <a:p>
            <a:pPr indent="0" lvl="0" marL="0" rtl="1" algn="r">
              <a:spcBef>
                <a:spcPts val="400"/>
              </a:spcBef>
              <a:spcAft>
                <a:spcPts val="0"/>
              </a:spcAft>
              <a:buNone/>
            </a:pPr>
            <a:r>
              <a:rPr lang="iw"/>
              <a:t>בשיעור זה יש להרחיב את הפרויקט,</a:t>
            </a:r>
            <a:endParaRPr/>
          </a:p>
          <a:p>
            <a:pPr indent="0" lvl="0" marL="0" rtl="1" algn="r">
              <a:spcBef>
                <a:spcPts val="400"/>
              </a:spcBef>
              <a:spcAft>
                <a:spcPts val="0"/>
              </a:spcAft>
              <a:buNone/>
            </a:pPr>
            <a:r>
              <a:rPr lang="iw"/>
              <a:t>עדיין בתוך קובץ </a:t>
            </a:r>
            <a:r>
              <a:rPr lang="iw" u="sng">
                <a:solidFill>
                  <a:schemeClr val="hlink"/>
                </a:solidFill>
                <a:hlinkClick r:id="rId3"/>
              </a:rPr>
              <a:t>app.js</a:t>
            </a:r>
            <a:r>
              <a:rPr lang="iw"/>
              <a:t> בלבד יש לתמוך בקריאות נוספות,</a:t>
            </a:r>
            <a:endParaRPr/>
          </a:p>
          <a:p>
            <a:pPr indent="0" lvl="0" marL="0" rtl="1" algn="r">
              <a:spcBef>
                <a:spcPts val="400"/>
              </a:spcBef>
              <a:spcAft>
                <a:spcPts val="0"/>
              </a:spcAft>
              <a:buNone/>
            </a:pPr>
            <a:r>
              <a:rPr lang="iw"/>
              <a:t>על הפרויקט לתמוך בכל פעולות ה crud השונות על הישויות של הפרויקט: קורסים, תלמידים ורישום.</a:t>
            </a:r>
            <a:endParaRPr/>
          </a:p>
          <a:p>
            <a:pPr indent="0" lvl="0" marL="0" rtl="1" algn="r">
              <a:spcBef>
                <a:spcPts val="400"/>
              </a:spcBef>
              <a:spcAft>
                <a:spcPts val="0"/>
              </a:spcAft>
              <a:buNone/>
            </a:pPr>
            <a:r>
              <a:rPr lang="iw"/>
              <a:t>לכל אחת מהישויות יש לתמוך בפעולות הבאות:</a:t>
            </a:r>
            <a:endParaRPr/>
          </a:p>
          <a:p>
            <a:pPr indent="0" lvl="0" marL="0" rtl="0" algn="l">
              <a:spcBef>
                <a:spcPts val="400"/>
              </a:spcBef>
              <a:spcAft>
                <a:spcPts val="0"/>
              </a:spcAft>
              <a:buNone/>
            </a:pPr>
            <a:r>
              <a:rPr lang="iw"/>
              <a:t>get של אוביקט בודד</a:t>
            </a:r>
            <a:endParaRPr/>
          </a:p>
          <a:p>
            <a:pPr indent="0" lvl="0" marL="0" rtl="0" algn="l">
              <a:spcBef>
                <a:spcPts val="400"/>
              </a:spcBef>
              <a:spcAft>
                <a:spcPts val="0"/>
              </a:spcAft>
              <a:buNone/>
            </a:pPr>
            <a:r>
              <a:rPr lang="iw"/>
              <a:t>get של רשימה</a:t>
            </a:r>
            <a:endParaRPr/>
          </a:p>
          <a:p>
            <a:pPr indent="0" lvl="0" marL="0" rtl="0" algn="l">
              <a:spcBef>
                <a:spcPts val="400"/>
              </a:spcBef>
              <a:spcAft>
                <a:spcPts val="0"/>
              </a:spcAft>
              <a:buNone/>
            </a:pPr>
            <a:r>
              <a:rPr lang="iw"/>
              <a:t>post</a:t>
            </a:r>
            <a:endParaRPr/>
          </a:p>
          <a:p>
            <a:pPr indent="0" lvl="0" marL="0" rtl="0" algn="l">
              <a:spcBef>
                <a:spcPts val="400"/>
              </a:spcBef>
              <a:spcAft>
                <a:spcPts val="0"/>
              </a:spcAft>
              <a:buNone/>
            </a:pPr>
            <a:r>
              <a:rPr lang="iw"/>
              <a:t>put </a:t>
            </a:r>
            <a:endParaRPr/>
          </a:p>
          <a:p>
            <a:pPr indent="0" lvl="0" marL="0" rtl="0" algn="l">
              <a:spcBef>
                <a:spcPts val="400"/>
              </a:spcBef>
              <a:spcAft>
                <a:spcPts val="0"/>
              </a:spcAft>
              <a:buNone/>
            </a:pPr>
            <a:r>
              <a:rPr lang="iw"/>
              <a:t>delete</a:t>
            </a:r>
            <a:endParaRPr/>
          </a:p>
          <a:p>
            <a:pPr indent="0" lvl="0" marL="0" rtl="1" algn="r">
              <a:spcBef>
                <a:spcPts val="400"/>
              </a:spcBef>
              <a:spcAft>
                <a:spcPts val="0"/>
              </a:spcAft>
              <a:buNone/>
            </a:pPr>
            <a:r>
              <a:rPr lang="iw"/>
              <a:t>הפרויקט חייב להיות מוגדר בארכיטקטורת rest נכונה.</a:t>
            </a:r>
            <a:endParaRPr/>
          </a:p>
          <a:p>
            <a:pPr indent="0" lvl="0" marL="0" rtl="1" algn="r">
              <a:spcBef>
                <a:spcPts val="400"/>
              </a:spcBef>
              <a:spcAft>
                <a:spcPts val="0"/>
              </a:spcAft>
              <a:buNone/>
            </a:pPr>
            <a:r>
              <a:rPr lang="iw"/>
              <a:t>יש לזכור להוסיף את השורה הנ״ל לפני הגדרת ה routes השונים:</a:t>
            </a:r>
            <a:endParaRPr/>
          </a:p>
          <a:p>
            <a:pPr indent="0" lvl="0" marL="0" rtl="0" algn="l">
              <a:spcBef>
                <a:spcPts val="400"/>
              </a:spcBef>
              <a:spcAft>
                <a:spcPts val="0"/>
              </a:spcAft>
              <a:buNone/>
            </a:pPr>
            <a:r>
              <a:rPr lang="iw"/>
              <a:t>app.use(express.json())</a:t>
            </a:r>
            <a:endParaRPr/>
          </a:p>
          <a:p>
            <a:pPr indent="0" lvl="0" marL="0" rtl="1" algn="r">
              <a:spcBef>
                <a:spcPts val="400"/>
              </a:spcBef>
              <a:spcAft>
                <a:spcPts val="400"/>
              </a:spcAft>
              <a:buNone/>
            </a:pPr>
            <a:r>
              <a:rPr lang="iw"/>
              <a:t>את כל הקריאות יש לבדוק על ידי שימוש בתוכנת postman, על הקריאות להחזיר json בלבד ולא html!</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49"/>
          <p:cNvSpPr txBox="1"/>
          <p:nvPr>
            <p:ph type="title"/>
          </p:nvPr>
        </p:nvSpPr>
        <p:spPr>
          <a:xfrm>
            <a:off x="819150" y="845600"/>
            <a:ext cx="7505700" cy="626700"/>
          </a:xfrm>
          <a:prstGeom prst="rect">
            <a:avLst/>
          </a:prstGeom>
        </p:spPr>
        <p:txBody>
          <a:bodyPr anchorCtr="0" anchor="t" bIns="91425" lIns="91425" spcFirstLastPara="1" rIns="91425" wrap="square" tIns="91425">
            <a:normAutofit fontScale="90000"/>
          </a:bodyPr>
          <a:lstStyle/>
          <a:p>
            <a:pPr indent="0" lvl="0" marL="0" rtl="1" algn="r">
              <a:spcBef>
                <a:spcPts val="0"/>
              </a:spcBef>
              <a:spcAft>
                <a:spcPts val="0"/>
              </a:spcAft>
              <a:buNone/>
            </a:pPr>
            <a:r>
              <a:rPr lang="iw">
                <a:latin typeface="Calibri"/>
                <a:ea typeface="Calibri"/>
                <a:cs typeface="Calibri"/>
                <a:sym typeface="Calibri"/>
              </a:rPr>
              <a:t>משימה - ביצוע 📐</a:t>
            </a:r>
            <a:endParaRPr>
              <a:latin typeface="Calibri"/>
              <a:ea typeface="Calibri"/>
              <a:cs typeface="Calibri"/>
              <a:sym typeface="Calibri"/>
            </a:endParaRPr>
          </a:p>
        </p:txBody>
      </p:sp>
      <p:sp>
        <p:nvSpPr>
          <p:cNvPr id="346" name="Google Shape;346;p49"/>
          <p:cNvSpPr txBox="1"/>
          <p:nvPr>
            <p:ph idx="1" type="body"/>
          </p:nvPr>
        </p:nvSpPr>
        <p:spPr>
          <a:xfrm>
            <a:off x="819150" y="1515875"/>
            <a:ext cx="7505700" cy="3381900"/>
          </a:xfrm>
          <a:prstGeom prst="rect">
            <a:avLst/>
          </a:prstGeom>
        </p:spPr>
        <p:txBody>
          <a:bodyPr anchorCtr="0" anchor="t" bIns="91425" lIns="91425" spcFirstLastPara="1" rIns="91425" wrap="square" tIns="91425">
            <a:normAutofit/>
          </a:bodyPr>
          <a:lstStyle/>
          <a:p>
            <a:pPr indent="-311150" lvl="0" marL="457200" rtl="1" algn="r">
              <a:spcBef>
                <a:spcPts val="0"/>
              </a:spcBef>
              <a:spcAft>
                <a:spcPts val="0"/>
              </a:spcAft>
              <a:buSzPts val="1300"/>
              <a:buChar char="-"/>
            </a:pPr>
            <a:r>
              <a:rPr lang="iw"/>
              <a:t>יש להשתמש ב ai על מנת ללמוד, להבין וגם לבצע.</a:t>
            </a:r>
            <a:endParaRPr/>
          </a:p>
          <a:p>
            <a:pPr indent="-311150" lvl="0" marL="457200" rtl="1" algn="r">
              <a:spcBef>
                <a:spcPts val="0"/>
              </a:spcBef>
              <a:spcAft>
                <a:spcPts val="0"/>
              </a:spcAft>
              <a:buSzPts val="1300"/>
              <a:buChar char="-"/>
            </a:pPr>
            <a:r>
              <a:rPr lang="iw"/>
              <a:t>כל שורת קוד שנכתבה על ידי ה ai, חובה להבין היטב!</a:t>
            </a:r>
            <a:endParaRPr/>
          </a:p>
          <a:p>
            <a:pPr indent="-311150" lvl="0" marL="457200" rtl="1" algn="r">
              <a:spcBef>
                <a:spcPts val="0"/>
              </a:spcBef>
              <a:spcAft>
                <a:spcPts val="0"/>
              </a:spcAft>
              <a:buSzPts val="1300"/>
              <a:buChar char="-"/>
            </a:pPr>
            <a:r>
              <a:rPr lang="iw"/>
              <a:t>אחרי יצירת הפרויקט הבסיסי, יש להשתמש ב ai כדי לשפר את הקוד, על ידי שאלות בסגנון:</a:t>
            </a:r>
            <a:endParaRPr/>
          </a:p>
          <a:p>
            <a:pPr indent="-298450" lvl="1" marL="914400" rtl="1" algn="r">
              <a:spcBef>
                <a:spcPts val="0"/>
              </a:spcBef>
              <a:spcAft>
                <a:spcPts val="0"/>
              </a:spcAft>
              <a:buSzPts val="1100"/>
              <a:buChar char="-"/>
            </a:pPr>
            <a:r>
              <a:rPr lang="iw"/>
              <a:t>איזה שגיאות עשויות להיות בקוד?</a:t>
            </a:r>
            <a:endParaRPr/>
          </a:p>
          <a:p>
            <a:pPr indent="-298450" lvl="1" marL="914400" rtl="1" algn="r">
              <a:spcBef>
                <a:spcPts val="0"/>
              </a:spcBef>
              <a:spcAft>
                <a:spcPts val="0"/>
              </a:spcAft>
              <a:buSzPts val="1100"/>
              <a:buChar char="-"/>
            </a:pPr>
            <a:r>
              <a:rPr lang="iw"/>
              <a:t>איך אפשר לשפר?</a:t>
            </a:r>
            <a:endParaRPr/>
          </a:p>
          <a:p>
            <a:pPr indent="-298450" lvl="1" marL="914400" rtl="1" algn="r">
              <a:spcBef>
                <a:spcPts val="0"/>
              </a:spcBef>
              <a:spcAft>
                <a:spcPts val="0"/>
              </a:spcAft>
              <a:buSzPts val="1100"/>
              <a:buChar char="-"/>
            </a:pPr>
            <a:r>
              <a:rPr lang="iw"/>
              <a:t>הער לי הערות על מבנה הקוד?</a:t>
            </a:r>
            <a:endParaRPr/>
          </a:p>
          <a:p>
            <a:pPr indent="-311150" lvl="0" marL="457200" rtl="1" algn="r">
              <a:spcBef>
                <a:spcPts val="0"/>
              </a:spcBef>
              <a:spcAft>
                <a:spcPts val="0"/>
              </a:spcAft>
              <a:buSzPts val="1300"/>
              <a:buChar char="-"/>
            </a:pPr>
            <a:r>
              <a:rPr lang="iw"/>
              <a:t>הפרויקט צריך לכלול גם קובץ txt עם פרוט של פרומפטים שונים שנשלחו ל ai ודוגמאות לתשובות.</a:t>
            </a:r>
            <a:endParaRPr/>
          </a:p>
          <a:p>
            <a:pPr indent="-311150" lvl="0" marL="457200" rtl="1" algn="r">
              <a:spcBef>
                <a:spcPts val="0"/>
              </a:spcBef>
              <a:spcAft>
                <a:spcPts val="0"/>
              </a:spcAft>
              <a:buSzPts val="1300"/>
              <a:buChar char="-"/>
            </a:pPr>
            <a:r>
              <a:rPr lang="iw"/>
              <a:t>על כל הקוד להיכתב על ידי ai.</a:t>
            </a:r>
            <a:endParaRPr/>
          </a:p>
          <a:p>
            <a:pPr indent="-311150" lvl="0" marL="457200" rtl="1" algn="r">
              <a:spcBef>
                <a:spcPts val="0"/>
              </a:spcBef>
              <a:spcAft>
                <a:spcPts val="0"/>
              </a:spcAft>
              <a:buSzPts val="1300"/>
              <a:buChar char="-"/>
            </a:pPr>
            <a:r>
              <a:rPr lang="iw"/>
              <a:t>אין לכתוב את כל הקוד בפקודה אחת, תהליך הכתיבה על ידי ai חייב להיות מחולק ל6 שלבים לפחות!</a:t>
            </a:r>
            <a:endParaRPr/>
          </a:p>
          <a:p>
            <a:pPr indent="-311150" lvl="0" marL="457200" rtl="1" algn="r">
              <a:spcBef>
                <a:spcPts val="0"/>
              </a:spcBef>
              <a:spcAft>
                <a:spcPts val="0"/>
              </a:spcAft>
              <a:buSzPts val="1300"/>
              <a:buChar char="-"/>
            </a:pPr>
            <a:r>
              <a:rPr lang="iw"/>
              <a:t>יש להעלות את הקוד בקומיט נוסף בגיט על הפרויט משיעור קודם - קומיט שמבטל ומעדכן את הקוד הקודם, אין צורך לתמוך בשני קודים מקבילים.</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hift">
  <a:themeElements>
    <a:clrScheme name="Shift">
      <a:dk1>
        <a:srgbClr val="FFFFFF"/>
      </a:dk1>
      <a:lt1>
        <a:srgbClr val="AF7B51"/>
      </a:lt1>
      <a:dk2>
        <a:srgbClr val="233A44"/>
      </a:dk2>
      <a:lt2>
        <a:srgbClr val="D9D9D9"/>
      </a:lt2>
      <a:accent1>
        <a:srgbClr val="00796B"/>
      </a:accent1>
      <a:accent2>
        <a:srgbClr val="D9563F"/>
      </a:accent2>
      <a:accent3>
        <a:srgbClr val="C4A15A"/>
      </a:accent3>
      <a:accent4>
        <a:srgbClr val="14F597"/>
      </a:accent4>
      <a:accent5>
        <a:srgbClr val="3D4594"/>
      </a:accent5>
      <a:accent6>
        <a:srgbClr val="163EF5"/>
      </a:accent6>
      <a:hlink>
        <a:srgbClr val="3D4594"/>
      </a:hlink>
      <a:folHlink>
        <a:srgbClr val="3D45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